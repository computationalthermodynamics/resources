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7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Cliquez pour modifier le style du titre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</p:spPr>
        <p:txBody>
          <a:bodyPr lIns="90000" tIns="45000" rIns="90000" bIns="45000"/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Cliquez pour modifier les styles du texte du masque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Deuxième niveau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Troisième niveau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Quatrième niveau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Cinquième niveau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fld id="{071D409B-EC3C-4E9F-B9AE-FE84E2AF5C28}" type="datetime1"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5/19/25</a:t>
            </a:fld>
            <a:endParaRPr lang="en-US" sz="1800" b="0" strike="noStrike" spc="-1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fld id="{9A99832F-1DCA-4A90-8898-99DA9FC7E2F6}" type="slidenum"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‹#›</a:t>
            </a:fld>
            <a:endParaRPr lang="en-US" sz="18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julialang.org/learning/tutorials/" TargetMode="Externa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0" y="0"/>
            <a:ext cx="9142920" cy="363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the </a:t>
            </a:r>
            <a:r>
              <a:rPr lang="en-US" b="1" spc="-1" dirty="0">
                <a:solidFill>
                  <a:srgbClr val="000000"/>
                </a:solidFill>
                <a:latin typeface="Bookman Old Style"/>
                <a:ea typeface="DejaVu Sans"/>
              </a:rPr>
              <a:t>J</a:t>
            </a:r>
            <a:r>
              <a:rPr lang="en-US" sz="18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ulia interface: introduction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65EDD820-83D1-4A29-ACDF-157377A0B9A5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pic>
        <p:nvPicPr>
          <p:cNvPr id="121" name="Picture 120"/>
          <p:cNvPicPr/>
          <p:nvPr/>
        </p:nvPicPr>
        <p:blipFill>
          <a:blip r:embed="rId2"/>
          <a:stretch/>
        </p:blipFill>
        <p:spPr>
          <a:xfrm>
            <a:off x="2757175" y="1820643"/>
            <a:ext cx="4635001" cy="3028165"/>
          </a:xfrm>
          <a:prstGeom prst="rect">
            <a:avLst/>
          </a:prstGeom>
          <a:ln>
            <a:noFill/>
          </a:ln>
        </p:spPr>
      </p:pic>
      <p:sp>
        <p:nvSpPr>
          <p:cNvPr id="122" name="CustomShape 3"/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98FA94EC-0DA3-4643-A97D-BC5DE782D3D0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253F16-16EF-BFCB-F338-C2CCA606978D}"/>
              </a:ext>
            </a:extLst>
          </p:cNvPr>
          <p:cNvSpPr/>
          <p:nvPr/>
        </p:nvSpPr>
        <p:spPr>
          <a:xfrm>
            <a:off x="202361" y="1820643"/>
            <a:ext cx="1904399" cy="96212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10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MAGEMin_C contributors</a:t>
            </a:r>
            <a:br>
              <a:rPr lang="en-GB" sz="10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B. Kaus</a:t>
            </a:r>
            <a:b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H. Dominguez</a:t>
            </a:r>
            <a:b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P. </a:t>
            </a:r>
            <a:r>
              <a:rPr lang="en-GB" sz="1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Lanari</a:t>
            </a:r>
            <a:endParaRPr lang="en-GB" sz="10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A4D90E-4C29-1782-A1F7-F7BCF557B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09" y="538907"/>
            <a:ext cx="7772400" cy="11067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1259640" y="-447840"/>
            <a:ext cx="228240" cy="2282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24" name="CustomShape 2"/>
          <p:cNvSpPr/>
          <p:nvPr/>
        </p:nvSpPr>
        <p:spPr>
          <a:xfrm>
            <a:off x="1259640" y="-447840"/>
            <a:ext cx="228240" cy="2282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25" name="CustomShape 3"/>
          <p:cNvSpPr/>
          <p:nvPr/>
        </p:nvSpPr>
        <p:spPr>
          <a:xfrm>
            <a:off x="1259640" y="-447840"/>
            <a:ext cx="228240" cy="2282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26" name="CustomShape 4"/>
          <p:cNvSpPr/>
          <p:nvPr/>
        </p:nvSpPr>
        <p:spPr>
          <a:xfrm>
            <a:off x="1259640" y="-447840"/>
            <a:ext cx="228240" cy="2282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27" name="CustomShape 5"/>
          <p:cNvSpPr/>
          <p:nvPr/>
        </p:nvSpPr>
        <p:spPr>
          <a:xfrm>
            <a:off x="1259640" y="-447840"/>
            <a:ext cx="228240" cy="2282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28" name="CustomShape 6"/>
          <p:cNvSpPr/>
          <p:nvPr/>
        </p:nvSpPr>
        <p:spPr>
          <a:xfrm>
            <a:off x="1259640" y="-888120"/>
            <a:ext cx="1771200" cy="1142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29" name="CustomShape 7"/>
          <p:cNvSpPr/>
          <p:nvPr/>
        </p:nvSpPr>
        <p:spPr>
          <a:xfrm>
            <a:off x="1259640" y="-888120"/>
            <a:ext cx="1771200" cy="1142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30" name="CustomShape 8"/>
          <p:cNvSpPr/>
          <p:nvPr/>
        </p:nvSpPr>
        <p:spPr>
          <a:xfrm>
            <a:off x="1259640" y="-685800"/>
            <a:ext cx="1428480" cy="14284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31" name="CustomShape 9"/>
          <p:cNvSpPr/>
          <p:nvPr/>
        </p:nvSpPr>
        <p:spPr>
          <a:xfrm>
            <a:off x="0" y="0"/>
            <a:ext cx="9143640" cy="364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the </a:t>
            </a:r>
            <a:r>
              <a:rPr lang="en-US" b="1" spc="-1" dirty="0">
                <a:solidFill>
                  <a:srgbClr val="000000"/>
                </a:solidFill>
                <a:latin typeface="Bookman Old Style"/>
                <a:ea typeface="DejaVu Sans"/>
              </a:rPr>
              <a:t>J</a:t>
            </a:r>
            <a:r>
              <a:rPr lang="en-US" sz="18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ulia interface: installation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2" name="TextShape 10"/>
          <p:cNvSpPr txBox="1"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fld id="{4E407B41-23CD-4366-8861-561BE7D1D01F}" type="slidenum"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2</a:t>
            </a:fld>
            <a:endParaRPr lang="en-US" sz="1800" b="0" strike="noStrike" spc="-1">
              <a:latin typeface="Times New Roman"/>
            </a:endParaRPr>
          </a:p>
        </p:txBody>
      </p:sp>
      <p:sp>
        <p:nvSpPr>
          <p:cNvPr id="133" name="CustomShape 11"/>
          <p:cNvSpPr/>
          <p:nvPr/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5DEBC4A8-6BF4-4463-B7D9-1359F464C981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  <p:pic>
        <p:nvPicPr>
          <p:cNvPr id="134" name="Picture 6"/>
          <p:cNvPicPr/>
          <p:nvPr/>
        </p:nvPicPr>
        <p:blipFill>
          <a:blip r:embed="rId2"/>
          <a:stretch/>
        </p:blipFill>
        <p:spPr>
          <a:xfrm>
            <a:off x="5128920" y="1637280"/>
            <a:ext cx="3735000" cy="2289600"/>
          </a:xfrm>
          <a:prstGeom prst="rect">
            <a:avLst/>
          </a:prstGeom>
          <a:ln>
            <a:noFill/>
          </a:ln>
        </p:spPr>
      </p:pic>
      <p:sp>
        <p:nvSpPr>
          <p:cNvPr id="135" name="CustomShape 12"/>
          <p:cNvSpPr/>
          <p:nvPr/>
        </p:nvSpPr>
        <p:spPr>
          <a:xfrm>
            <a:off x="960480" y="581400"/>
            <a:ext cx="7486200" cy="33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Bookman Old Style"/>
                <a:ea typeface="DejaVu Sans"/>
              </a:rPr>
              <a:t>https://github.com/ComputationalThermodynamics/MAGEMin_C.jl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36" name="CustomShape 13"/>
          <p:cNvSpPr/>
          <p:nvPr/>
        </p:nvSpPr>
        <p:spPr>
          <a:xfrm>
            <a:off x="856800" y="2010960"/>
            <a:ext cx="4133160" cy="93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404040"/>
                </a:solidFill>
                <a:latin typeface="Bookman Old Style"/>
                <a:ea typeface="DejaVu Sans"/>
              </a:rPr>
              <a:t>Install MAGEMin_C</a:t>
            </a:r>
            <a:endParaRPr lang="en-US" sz="11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strike="noStrike" spc="-1" dirty="0" err="1">
                <a:solidFill>
                  <a:srgbClr val="404040"/>
                </a:solidFill>
                <a:latin typeface="Consolas"/>
                <a:ea typeface="DejaVu Sans"/>
              </a:rPr>
              <a:t>julia</a:t>
            </a:r>
            <a:r>
              <a:rPr lang="en-US" sz="1100" b="0" strike="noStrike" spc="-1" dirty="0">
                <a:solidFill>
                  <a:srgbClr val="404040"/>
                </a:solidFill>
                <a:latin typeface="Consolas"/>
                <a:ea typeface="DejaVu Sans"/>
              </a:rPr>
              <a:t>&gt; ] </a:t>
            </a:r>
            <a:r>
              <a:rPr lang="en-US" sz="11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		</a:t>
            </a:r>
            <a:r>
              <a:rPr lang="en-US" sz="1100" b="0" strike="noStrike" spc="-1" dirty="0">
                <a:solidFill>
                  <a:srgbClr val="4F81BD"/>
                </a:solidFill>
                <a:latin typeface="Consolas"/>
                <a:ea typeface="DejaVu Sans"/>
              </a:rPr>
              <a:t># opens the package manager</a:t>
            </a:r>
            <a:br>
              <a:rPr dirty="0"/>
            </a:br>
            <a:r>
              <a:rPr lang="en-US" sz="1100" b="0" strike="noStrike" spc="-1" dirty="0">
                <a:solidFill>
                  <a:srgbClr val="404040"/>
                </a:solidFill>
                <a:latin typeface="Consolas"/>
                <a:ea typeface="DejaVu Sans"/>
              </a:rPr>
              <a:t>pkg&gt; add MAGEMin_C </a:t>
            </a:r>
            <a:r>
              <a:rPr lang="en-US" sz="11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	</a:t>
            </a:r>
            <a:r>
              <a:rPr lang="en-US" sz="1100" b="0" strike="noStrike" spc="-1" dirty="0">
                <a:solidFill>
                  <a:srgbClr val="4F81BD"/>
                </a:solidFill>
                <a:latin typeface="Consolas"/>
                <a:ea typeface="DejaVu Sans"/>
              </a:rPr>
              <a:t># MAGEMin_C </a:t>
            </a:r>
            <a:endParaRPr lang="en-US" sz="1100" b="0" strike="noStrike" spc="-1" dirty="0">
              <a:latin typeface="Arial"/>
            </a:endParaRPr>
          </a:p>
        </p:txBody>
      </p:sp>
      <p:pic>
        <p:nvPicPr>
          <p:cNvPr id="137" name="Picture 2"/>
          <p:cNvPicPr/>
          <p:nvPr/>
        </p:nvPicPr>
        <p:blipFill>
          <a:blip r:embed="rId3"/>
          <a:stretch/>
        </p:blipFill>
        <p:spPr>
          <a:xfrm>
            <a:off x="94680" y="2274840"/>
            <a:ext cx="651240" cy="402840"/>
          </a:xfrm>
          <a:prstGeom prst="rect">
            <a:avLst/>
          </a:prstGeom>
          <a:ln>
            <a:noFill/>
          </a:ln>
        </p:spPr>
      </p:pic>
      <p:pic>
        <p:nvPicPr>
          <p:cNvPr id="138" name="Picture 4"/>
          <p:cNvPicPr/>
          <p:nvPr/>
        </p:nvPicPr>
        <p:blipFill>
          <a:blip r:embed="rId4"/>
          <a:stretch/>
        </p:blipFill>
        <p:spPr>
          <a:xfrm>
            <a:off x="94680" y="532080"/>
            <a:ext cx="791280" cy="423360"/>
          </a:xfrm>
          <a:prstGeom prst="rect">
            <a:avLst/>
          </a:prstGeom>
          <a:ln>
            <a:noFill/>
          </a:ln>
        </p:spPr>
      </p:pic>
      <p:sp>
        <p:nvSpPr>
          <p:cNvPr id="139" name="CustomShape 14"/>
          <p:cNvSpPr/>
          <p:nvPr/>
        </p:nvSpPr>
        <p:spPr>
          <a:xfrm>
            <a:off x="856800" y="3132720"/>
            <a:ext cx="4133160" cy="93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404040"/>
                </a:solidFill>
                <a:latin typeface="Bookman Old Style"/>
                <a:ea typeface="DejaVu Sans"/>
              </a:rPr>
              <a:t>Load MAGEMin_C</a:t>
            </a:r>
            <a:endParaRPr lang="en-US" sz="11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strike="noStrike" spc="-1" dirty="0" err="1">
                <a:solidFill>
                  <a:srgbClr val="404040"/>
                </a:solidFill>
                <a:latin typeface="Consolas"/>
                <a:ea typeface="DejaVu Sans"/>
              </a:rPr>
              <a:t>julia</a:t>
            </a:r>
            <a:r>
              <a:rPr lang="en-US" sz="1100" b="0" strike="noStrike" spc="-1" dirty="0">
                <a:solidFill>
                  <a:srgbClr val="404040"/>
                </a:solidFill>
                <a:latin typeface="Consolas"/>
                <a:ea typeface="DejaVu Sans"/>
              </a:rPr>
              <a:t>&gt; using MAGEMin_C</a:t>
            </a:r>
            <a:r>
              <a:rPr lang="en-US" sz="11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	</a:t>
            </a:r>
            <a:r>
              <a:rPr lang="en-US" sz="1100" b="0" strike="noStrike" spc="-1" dirty="0">
                <a:solidFill>
                  <a:srgbClr val="4F81BD"/>
                </a:solidFill>
                <a:latin typeface="Consolas"/>
                <a:ea typeface="DejaVu Sans"/>
              </a:rPr>
              <a:t># load MAGEMin_C</a:t>
            </a:r>
            <a:endParaRPr lang="en-US" sz="1100" b="0" strike="noStrike" spc="-1" dirty="0">
              <a:latin typeface="Arial"/>
            </a:endParaRPr>
          </a:p>
        </p:txBody>
      </p:sp>
      <p:sp>
        <p:nvSpPr>
          <p:cNvPr id="140" name="CustomShape 15"/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5DC7C0C8-43EA-417E-8892-778B82DB363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Shape 1"/>
          <p:cNvSpPr/>
          <p:nvPr/>
        </p:nvSpPr>
        <p:spPr>
          <a:xfrm>
            <a:off x="0" y="0"/>
            <a:ext cx="9143640" cy="364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the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Bookman Old Style"/>
                <a:ea typeface="DejaVu Sans"/>
              </a:rPr>
              <a:t>julia</a:t>
            </a:r>
            <a:r>
              <a:rPr lang="en-US" sz="18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 interface: online documentation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42" name="CustomShape 2"/>
          <p:cNvSpPr/>
          <p:nvPr/>
        </p:nvSpPr>
        <p:spPr>
          <a:xfrm>
            <a:off x="600324" y="531987"/>
            <a:ext cx="8543316" cy="33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https://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Bookman Old Style"/>
                <a:ea typeface="DejaVu Sans"/>
              </a:rPr>
              <a:t>computationalthermodynamics.github.io</a:t>
            </a:r>
            <a:r>
              <a:rPr lang="en-US" sz="1400" b="0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/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Bookman Old Style"/>
                <a:ea typeface="DejaVu Sans"/>
              </a:rPr>
              <a:t>MAGEMin_C.jl</a:t>
            </a:r>
            <a:r>
              <a:rPr lang="en-US" sz="1400" b="0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/dev/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Bookman Old Style"/>
                <a:ea typeface="DejaVu Sans"/>
              </a:rPr>
              <a:t>MAGEMin_C</a:t>
            </a:r>
            <a:r>
              <a:rPr lang="en-US" sz="1400" b="0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/tutorials</a:t>
            </a:r>
            <a:endParaRPr lang="en-US" sz="1400" b="0" strike="noStrike" spc="-1" dirty="0">
              <a:latin typeface="Arial"/>
            </a:endParaRPr>
          </a:p>
        </p:txBody>
      </p:sp>
      <p:pic>
        <p:nvPicPr>
          <p:cNvPr id="143" name="Picture 4"/>
          <p:cNvPicPr/>
          <p:nvPr/>
        </p:nvPicPr>
        <p:blipFill>
          <a:blip r:embed="rId2"/>
          <a:stretch/>
        </p:blipFill>
        <p:spPr>
          <a:xfrm>
            <a:off x="-48029" y="452700"/>
            <a:ext cx="791280" cy="423360"/>
          </a:xfrm>
          <a:prstGeom prst="rect">
            <a:avLst/>
          </a:prstGeom>
          <a:ln>
            <a:noFill/>
          </a:ln>
        </p:spPr>
      </p:pic>
      <p:sp>
        <p:nvSpPr>
          <p:cNvPr id="144" name="CustomShape 3"/>
          <p:cNvSpPr/>
          <p:nvPr/>
        </p:nvSpPr>
        <p:spPr>
          <a:xfrm>
            <a:off x="190440" y="941760"/>
            <a:ext cx="8130600" cy="72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Numerous examples outside what will be presented during the short course are given in the doc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148" name="CustomShape 4"/>
          <p:cNvSpPr/>
          <p:nvPr/>
        </p:nvSpPr>
        <p:spPr>
          <a:xfrm>
            <a:off x="190440" y="4577760"/>
            <a:ext cx="8130600" cy="455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i="1" strike="noStrike" spc="-1" dirty="0">
                <a:solidFill>
                  <a:srgbClr val="C00000"/>
                </a:solidFill>
                <a:latin typeface="Arial"/>
                <a:ea typeface="DejaVu Sans"/>
              </a:rPr>
              <a:t>Moreover, the testing framework can provide more knowledge:</a:t>
            </a:r>
            <a:br>
              <a:rPr dirty="0"/>
            </a:br>
            <a:r>
              <a:rPr lang="en-US" sz="1200" b="0" i="1" strike="noStrike" spc="-1" dirty="0">
                <a:solidFill>
                  <a:srgbClr val="C00000"/>
                </a:solidFill>
                <a:latin typeface="Arial"/>
                <a:ea typeface="DejaVu Sans"/>
              </a:rPr>
              <a:t>https://github.com/ComputationalThermodynamics/MAGEMin_C.jl/blob/main/test/tests.jl</a:t>
            </a:r>
            <a:endParaRPr lang="en-US" sz="1200" b="0" i="1" strike="noStrike" spc="-1" dirty="0">
              <a:latin typeface="Arial"/>
            </a:endParaRPr>
          </a:p>
        </p:txBody>
      </p:sp>
      <p:sp>
        <p:nvSpPr>
          <p:cNvPr id="149" name="CustomShape 5"/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6CEC6A8A-4C58-4668-B76F-D7CF84172AA5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AC98E8-6707-0775-6019-824872CF1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51" y="1496520"/>
            <a:ext cx="7024977" cy="30567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ustomShape 1"/>
          <p:cNvSpPr/>
          <p:nvPr/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1857BDE3-BD15-4F96-BA5D-CC07D5319D86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4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51" name="CustomShape 2"/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</a:t>
            </a:r>
            <a:r>
              <a:rPr lang="en-US" sz="18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the </a:t>
            </a:r>
            <a:r>
              <a:rPr lang="en-US" b="1" spc="-1" dirty="0">
                <a:solidFill>
                  <a:srgbClr val="000000"/>
                </a:solidFill>
                <a:latin typeface="Bookman Old Style"/>
                <a:ea typeface="DejaVu Sans"/>
              </a:rPr>
              <a:t>J</a:t>
            </a:r>
            <a:r>
              <a:rPr lang="en-US" sz="18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ulia interface</a:t>
            </a:r>
            <a:r>
              <a:rPr lang="en-US" sz="1800" b="1" strike="noStrike" spc="-1">
                <a:solidFill>
                  <a:srgbClr val="000000"/>
                </a:solidFill>
                <a:latin typeface="Bookman Old Style"/>
                <a:ea typeface="DejaVu Sans"/>
              </a:rPr>
              <a:t>: quick start</a:t>
            </a:r>
            <a:r>
              <a:rPr lang="en-US" sz="18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!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52" name="CustomShape 3"/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4</a:t>
            </a:fld>
            <a:endParaRPr lang="en-US" sz="1200" b="0" strike="noStrike" spc="-1" dirty="0">
              <a:latin typeface="Arial"/>
            </a:endParaRPr>
          </a:p>
        </p:txBody>
      </p:sp>
      <p:sp>
        <p:nvSpPr>
          <p:cNvPr id="153" name="CustomShape 4"/>
          <p:cNvSpPr/>
          <p:nvPr/>
        </p:nvSpPr>
        <p:spPr>
          <a:xfrm>
            <a:off x="99000" y="610920"/>
            <a:ext cx="8953560" cy="222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MAGEMin_C allow you to write phase equilibrium </a:t>
            </a:r>
            <a:r>
              <a:rPr lang="en-US" sz="1400" b="1" strike="noStrike" spc="-1" dirty="0">
                <a:solidFill>
                  <a:srgbClr val="C00000"/>
                </a:solidFill>
                <a:latin typeface="Arial"/>
                <a:ea typeface="DejaVu Sans"/>
              </a:rPr>
              <a:t>Julia </a:t>
            </a: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scripts fitted to your needs</a:t>
            </a:r>
            <a:endParaRPr lang="en-US" sz="14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Numerous resources to learn Julia can be found online e.g., </a:t>
            </a: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  <a:hlinkClick r:id="rId2"/>
              </a:rPr>
              <a:t>https://julialang.org/learning/tutorials/</a:t>
            </a:r>
            <a:endParaRPr lang="en-US" sz="14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Overall, </a:t>
            </a:r>
            <a:r>
              <a:rPr lang="en-US" sz="1400" b="1" strike="noStrike" spc="-1" dirty="0">
                <a:solidFill>
                  <a:srgbClr val="C00000"/>
                </a:solidFill>
                <a:latin typeface="Arial"/>
                <a:ea typeface="DejaVu Sans"/>
              </a:rPr>
              <a:t>Julia</a:t>
            </a: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 programming style is quite like </a:t>
            </a:r>
            <a:r>
              <a:rPr lang="en-US" sz="1400" b="1" strike="noStrike" spc="-1" dirty="0" err="1">
                <a:solidFill>
                  <a:srgbClr val="C00000"/>
                </a:solidFill>
                <a:latin typeface="Arial"/>
                <a:ea typeface="DejaVu Sans"/>
              </a:rPr>
              <a:t>Matlab</a:t>
            </a: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 and being a </a:t>
            </a:r>
            <a:r>
              <a:rPr lang="en-US" sz="1400" b="1" strike="noStrike" spc="-1" dirty="0" err="1">
                <a:solidFill>
                  <a:srgbClr val="C00000"/>
                </a:solidFill>
                <a:latin typeface="Arial"/>
                <a:ea typeface="DejaVu Sans"/>
              </a:rPr>
              <a:t>Matlab</a:t>
            </a: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 user will help to write in </a:t>
            </a:r>
            <a:r>
              <a:rPr lang="en-US" sz="1400" b="1" strike="noStrike" spc="-1" dirty="0">
                <a:solidFill>
                  <a:srgbClr val="C00000"/>
                </a:solidFill>
                <a:latin typeface="Arial"/>
                <a:ea typeface="DejaVu Sans"/>
              </a:rPr>
              <a:t>Julia</a:t>
            </a: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buClr>
                <a:srgbClr val="C00000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Here we are going to explore the basic functionality </a:t>
            </a:r>
            <a:r>
              <a:rPr lang="en-US" sz="1400" b="1" strike="noStrike" spc="-1" dirty="0">
                <a:solidFill>
                  <a:srgbClr val="C00000"/>
                </a:solidFill>
                <a:latin typeface="Arial"/>
                <a:ea typeface="DejaVu Sans"/>
              </a:rPr>
              <a:t>MAGEMin_C</a:t>
            </a: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 and we will go through fractional crystallization and isentropic decompression..</a:t>
            </a: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b="0" strike="noStrike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Note that if you struggle, the scripts presented in this tutorial are available in the resources, in the MSG2025 folder</a:t>
            </a:r>
            <a:endParaRPr lang="en-US" sz="14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9065EC-73E2-E168-B055-8E408FB3E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062" y="3177154"/>
            <a:ext cx="1939049" cy="17262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09F7C4-7D36-C32A-FBFC-A544AE0CA402}"/>
              </a:ext>
            </a:extLst>
          </p:cNvPr>
          <p:cNvSpPr txBox="1"/>
          <p:nvPr/>
        </p:nvSpPr>
        <p:spPr>
          <a:xfrm>
            <a:off x="667910" y="1594559"/>
            <a:ext cx="4498795" cy="212365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MAGEMin_C         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load MAGEMin</a:t>
            </a: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Initialize database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       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Initialize_MAGEMin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ig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verbose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test       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#KLB1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       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use_predefined_bulk_rock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(data, test);</a:t>
            </a: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Call optimization routine for given P &amp; T &amp; </a:t>
            </a:r>
            <a:r>
              <a:rPr lang="en-US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bulk_rock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          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8.0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          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800.0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        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GB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single_point_minimization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(P,T, data);</a:t>
            </a:r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Finalize_MAGEMin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(data)</a:t>
            </a: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simple example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99000" y="610920"/>
            <a:ext cx="8953560" cy="222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The following example performs an equilibrium given the igneous database “</a:t>
            </a:r>
            <a:r>
              <a:rPr lang="en-US" sz="1400" b="0" strike="noStrike" spc="-1" dirty="0" err="1">
                <a:solidFill>
                  <a:srgbClr val="C00000"/>
                </a:solidFill>
                <a:latin typeface="Arial"/>
                <a:ea typeface="DejaVu Sans"/>
              </a:rPr>
              <a:t>ig</a:t>
            </a: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” and the predefined test for KLB-1 peridotite</a:t>
            </a:r>
            <a:b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</a:b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Note that: “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ig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”, igneous; “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mp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”, metapelite; “mb”, metabasite; “um”, ultramafic</a:t>
            </a:r>
            <a:endParaRPr lang="en-US" sz="1400" b="0" strike="noStrike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509E22-42B3-1C7D-4F60-149007D2BAF9}"/>
              </a:ext>
            </a:extLst>
          </p:cNvPr>
          <p:cNvSpPr txBox="1"/>
          <p:nvPr/>
        </p:nvSpPr>
        <p:spPr>
          <a:xfrm>
            <a:off x="5211393" y="2066958"/>
            <a:ext cx="347884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Initializ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e MAGEMin with “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ig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”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Selects test 0, i.e., KLB-1 peridotite</a:t>
            </a:r>
          </a:p>
          <a:p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Set pressure and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Performs the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Deallocate memory</a:t>
            </a:r>
            <a:endParaRPr lang="en-GB" sz="1400" dirty="0"/>
          </a:p>
        </p:txBody>
      </p:sp>
      <p:sp>
        <p:nvSpPr>
          <p:cNvPr id="11" name="CustomShape 4">
            <a:extLst>
              <a:ext uri="{FF2B5EF4-FFF2-40B4-BE49-F238E27FC236}">
                <a16:creationId xmlns:a16="http://schemas.microsoft.com/office/drawing/2014/main" id="{27E23873-F263-AD23-43B0-4B7DD05E5510}"/>
              </a:ext>
            </a:extLst>
          </p:cNvPr>
          <p:cNvSpPr/>
          <p:nvPr/>
        </p:nvSpPr>
        <p:spPr>
          <a:xfrm>
            <a:off x="99000" y="4139017"/>
            <a:ext cx="8953560" cy="3859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“out” is a structure that stores all the information about the equilibrium. We will see how to create a vector of structure to stores multiple equilibrium point information</a:t>
            </a:r>
            <a:endParaRPr lang="en-US" sz="1400" b="0" strike="noStrike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9F0D70-97F4-6492-CE49-98A85F16CA2E}"/>
              </a:ext>
            </a:extLst>
          </p:cNvPr>
          <p:cNvSpPr txBox="1"/>
          <p:nvPr/>
        </p:nvSpPr>
        <p:spPr>
          <a:xfrm>
            <a:off x="3341341" y="3669334"/>
            <a:ext cx="2041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cap="small" dirty="0"/>
              <a:t>This snippet can be copied</a:t>
            </a:r>
            <a:endParaRPr lang="en-GB" sz="1100" b="1" cap="small" dirty="0"/>
          </a:p>
        </p:txBody>
      </p:sp>
      <p:sp>
        <p:nvSpPr>
          <p:cNvPr id="13" name="CustomShape 3">
            <a:extLst>
              <a:ext uri="{FF2B5EF4-FFF2-40B4-BE49-F238E27FC236}">
                <a16:creationId xmlns:a16="http://schemas.microsoft.com/office/drawing/2014/main" id="{26C4F5EF-2F0D-ABC1-9455-485D94C1F17F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5</a:t>
            </a:fld>
            <a:endParaRPr lang="en-US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110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first example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99000" y="610920"/>
            <a:ext cx="8953560" cy="3859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Executing the previous set of commands gives a summary of the computed equilibrium</a:t>
            </a:r>
            <a:endParaRPr lang="en-US" sz="1400" b="0" strike="noStrike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10" name="CustomShape 4">
            <a:extLst>
              <a:ext uri="{FF2B5EF4-FFF2-40B4-BE49-F238E27FC236}">
                <a16:creationId xmlns:a16="http://schemas.microsoft.com/office/drawing/2014/main" id="{9E1BCC06-49D0-88E2-2ED6-ED0D4B97850A}"/>
              </a:ext>
            </a:extLst>
          </p:cNvPr>
          <p:cNvSpPr/>
          <p:nvPr/>
        </p:nvSpPr>
        <p:spPr>
          <a:xfrm>
            <a:off x="94860" y="2736692"/>
            <a:ext cx="7034710" cy="3859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0">
              <a:lnSpc>
                <a:spcPct val="100000"/>
              </a:lnSpc>
              <a:buClr>
                <a:srgbClr val="C00000"/>
              </a:buClr>
            </a:pPr>
            <a:r>
              <a:rPr lang="en-US" sz="1200" b="0" i="1" strike="noStrike" spc="-1" dirty="0">
                <a:solidFill>
                  <a:srgbClr val="C00000"/>
                </a:solidFill>
                <a:latin typeface="Arial"/>
                <a:ea typeface="DejaVu Sans"/>
              </a:rPr>
              <a:t>Note that “GAM” stands for gamma and the array is the chemical potential of the oxides of the system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EB028C-E3D2-4169-C4CA-18F9FEFDD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0" y="3719347"/>
            <a:ext cx="8595378" cy="614428"/>
          </a:xfrm>
          <a:prstGeom prst="rect">
            <a:avLst/>
          </a:prstGeom>
        </p:spPr>
      </p:pic>
      <p:sp>
        <p:nvSpPr>
          <p:cNvPr id="13" name="CustomShape 4">
            <a:extLst>
              <a:ext uri="{FF2B5EF4-FFF2-40B4-BE49-F238E27FC236}">
                <a16:creationId xmlns:a16="http://schemas.microsoft.com/office/drawing/2014/main" id="{76DE3518-A84B-E3C0-B6E5-3F2FA9BA41BC}"/>
              </a:ext>
            </a:extLst>
          </p:cNvPr>
          <p:cNvSpPr/>
          <p:nvPr/>
        </p:nvSpPr>
        <p:spPr>
          <a:xfrm>
            <a:off x="94860" y="3131015"/>
            <a:ext cx="8120990" cy="3134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To access the information store in “out” within the terminal simply type “out.” then hit the “tab” key</a:t>
            </a:r>
            <a:endParaRPr lang="en-US" sz="1400" b="0" strike="noStrike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571AED-1FBE-F3EE-3ED4-EF45A111B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111" y="3122674"/>
            <a:ext cx="564127" cy="3859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5F8EC1-F954-D1D4-E73D-A4A96B363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33" y="890348"/>
            <a:ext cx="7087795" cy="1809462"/>
          </a:xfrm>
          <a:prstGeom prst="rect">
            <a:avLst/>
          </a:prstGeom>
        </p:spPr>
      </p:pic>
      <p:sp>
        <p:nvSpPr>
          <p:cNvPr id="18" name="CustomShape 3">
            <a:extLst>
              <a:ext uri="{FF2B5EF4-FFF2-40B4-BE49-F238E27FC236}">
                <a16:creationId xmlns:a16="http://schemas.microsoft.com/office/drawing/2014/main" id="{5D5058ED-0E39-6CBE-F4D2-A3936535B457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6</a:t>
            </a:fld>
            <a:endParaRPr lang="en-US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6546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output structure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119625" y="600815"/>
            <a:ext cx="4046739" cy="3859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buClr>
                <a:srgbClr val="C00000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“out” structure is of type</a:t>
            </a: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Some details about information stored in “out”</a:t>
            </a: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83CC0-931C-DE8C-5E72-3AD22CCB98FA}"/>
              </a:ext>
            </a:extLst>
          </p:cNvPr>
          <p:cNvSpPr txBox="1"/>
          <p:nvPr/>
        </p:nvSpPr>
        <p:spPr>
          <a:xfrm>
            <a:off x="2444128" y="600815"/>
            <a:ext cx="3331030" cy="276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MAGEMin_C</a:t>
            </a:r>
            <a:r>
              <a:rPr lang="en-GB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gmin_struct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{Float64, Int64}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0B96C2-9503-CED6-0BF0-6B421A23DFC3}"/>
              </a:ext>
            </a:extLst>
          </p:cNvPr>
          <p:cNvSpPr txBox="1"/>
          <p:nvPr/>
        </p:nvSpPr>
        <p:spPr>
          <a:xfrm>
            <a:off x="836481" y="1875802"/>
            <a:ext cx="1171074" cy="24929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out.dataset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out.oxides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out.Gamma</a:t>
            </a:r>
            <a:endParaRPr lang="en-GB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endParaRPr lang="en-GB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out.bulk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out.bulk_M</a:t>
            </a:r>
            <a:br>
              <a:rPr lang="en-GB" sz="12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GB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out.bulk_S</a:t>
            </a:r>
            <a:endParaRPr lang="en-GB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out.ph</a:t>
            </a:r>
          </a:p>
          <a:p>
            <a:r>
              <a:rPr lang="en-GB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out.ph_frac</a:t>
            </a:r>
            <a:endParaRPr lang="en-GB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out.frac_M</a:t>
            </a: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out.frac_S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CCCCCC"/>
                </a:solidFill>
                <a:latin typeface="Consolas" panose="020B0609020204030204" pitchFamily="49" charset="0"/>
              </a:rPr>
              <a:t>…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B08051-90FB-A0FD-CE1D-258903FEF764}"/>
              </a:ext>
            </a:extLst>
          </p:cNvPr>
          <p:cNvCxnSpPr/>
          <p:nvPr/>
        </p:nvCxnSpPr>
        <p:spPr>
          <a:xfrm>
            <a:off x="2062556" y="2203077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5C87507-46C9-4132-E28E-9C26173D1A66}"/>
              </a:ext>
            </a:extLst>
          </p:cNvPr>
          <p:cNvSpPr txBox="1"/>
          <p:nvPr/>
        </p:nvSpPr>
        <p:spPr>
          <a:xfrm>
            <a:off x="2372048" y="1881809"/>
            <a:ext cx="25839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Dataset used for the calculation</a:t>
            </a: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List of oxides</a:t>
            </a: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Chemical potential of oxides</a:t>
            </a:r>
          </a:p>
          <a:p>
            <a:endParaRPr lang="en-US" sz="12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Bulk rock composition in mol</a:t>
            </a: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Bulk composition of melt if any</a:t>
            </a: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Bulk composition of solid part if any</a:t>
            </a:r>
          </a:p>
          <a:p>
            <a:endParaRPr lang="en-US" sz="12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Stable phases names</a:t>
            </a: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Stable phases fraction in mol</a:t>
            </a: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Melt fraction in mol</a:t>
            </a: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Solid fraction in mol</a:t>
            </a:r>
            <a:endParaRPr lang="en-GB" sz="1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40E5CB5-9568-934B-43B2-4F97B1D9BD54}"/>
              </a:ext>
            </a:extLst>
          </p:cNvPr>
          <p:cNvCxnSpPr/>
          <p:nvPr/>
        </p:nvCxnSpPr>
        <p:spPr>
          <a:xfrm>
            <a:off x="2062556" y="2397577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37576B-17A8-4E71-EA0B-6A1D923B6BFA}"/>
              </a:ext>
            </a:extLst>
          </p:cNvPr>
          <p:cNvCxnSpPr/>
          <p:nvPr/>
        </p:nvCxnSpPr>
        <p:spPr>
          <a:xfrm>
            <a:off x="2062556" y="2756233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350B34-4136-BFEE-432E-DB64E8B7C726}"/>
              </a:ext>
            </a:extLst>
          </p:cNvPr>
          <p:cNvCxnSpPr/>
          <p:nvPr/>
        </p:nvCxnSpPr>
        <p:spPr>
          <a:xfrm>
            <a:off x="2062556" y="2926067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D96C5E-B632-9270-F5BE-1A832187BC1C}"/>
              </a:ext>
            </a:extLst>
          </p:cNvPr>
          <p:cNvCxnSpPr/>
          <p:nvPr/>
        </p:nvCxnSpPr>
        <p:spPr>
          <a:xfrm>
            <a:off x="2062556" y="3106397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68B4EA-FB56-9E51-B338-9F5EB595980E}"/>
              </a:ext>
            </a:extLst>
          </p:cNvPr>
          <p:cNvCxnSpPr/>
          <p:nvPr/>
        </p:nvCxnSpPr>
        <p:spPr>
          <a:xfrm>
            <a:off x="2062555" y="3492554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6606566-2E5D-5C72-8833-F8FEC417F245}"/>
              </a:ext>
            </a:extLst>
          </p:cNvPr>
          <p:cNvCxnSpPr/>
          <p:nvPr/>
        </p:nvCxnSpPr>
        <p:spPr>
          <a:xfrm>
            <a:off x="2062555" y="3679330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0E0F908-9622-182C-A16F-EE07AE0E2135}"/>
              </a:ext>
            </a:extLst>
          </p:cNvPr>
          <p:cNvSpPr txBox="1"/>
          <p:nvPr/>
        </p:nvSpPr>
        <p:spPr>
          <a:xfrm>
            <a:off x="4962739" y="2598615"/>
            <a:ext cx="1389935" cy="15696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out.bulk_wt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out.bulk_M</a:t>
            </a:r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_wt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out.bulk_S</a:t>
            </a:r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_wt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GB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GB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out.ph_frac</a:t>
            </a:r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_wt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out.frac_M_wt</a:t>
            </a:r>
            <a:endParaRPr lang="en-GB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out.frac_S_wt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5753B4-4F75-D8E6-9CE5-BC80CB16362C}"/>
              </a:ext>
            </a:extLst>
          </p:cNvPr>
          <p:cNvCxnSpPr/>
          <p:nvPr/>
        </p:nvCxnSpPr>
        <p:spPr>
          <a:xfrm>
            <a:off x="6388370" y="2739894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743755-500D-31F4-2EAD-400FD6D45F15}"/>
              </a:ext>
            </a:extLst>
          </p:cNvPr>
          <p:cNvCxnSpPr/>
          <p:nvPr/>
        </p:nvCxnSpPr>
        <p:spPr>
          <a:xfrm>
            <a:off x="6388370" y="2909728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B6973B4-6B99-31B7-89D0-38F8FD803449}"/>
              </a:ext>
            </a:extLst>
          </p:cNvPr>
          <p:cNvCxnSpPr/>
          <p:nvPr/>
        </p:nvCxnSpPr>
        <p:spPr>
          <a:xfrm>
            <a:off x="6388370" y="3090058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D7BF68-EB42-9660-DFC6-A0DD3D67B39F}"/>
              </a:ext>
            </a:extLst>
          </p:cNvPr>
          <p:cNvCxnSpPr/>
          <p:nvPr/>
        </p:nvCxnSpPr>
        <p:spPr>
          <a:xfrm>
            <a:off x="6388369" y="3662991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D52B61E-7C10-07AA-3A28-6948803E3A8E}"/>
              </a:ext>
            </a:extLst>
          </p:cNvPr>
          <p:cNvSpPr txBox="1"/>
          <p:nvPr/>
        </p:nvSpPr>
        <p:spPr>
          <a:xfrm>
            <a:off x="6676494" y="2596887"/>
            <a:ext cx="4987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in </a:t>
            </a:r>
            <a:r>
              <a:rPr lang="en-US" sz="1200" spc="-1" dirty="0" err="1">
                <a:solidFill>
                  <a:srgbClr val="C00000"/>
                </a:solidFill>
                <a:latin typeface="Arial"/>
                <a:ea typeface="DejaVu Sans"/>
              </a:rPr>
              <a:t>wt</a:t>
            </a:r>
            <a:endParaRPr lang="en-US" sz="12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in </a:t>
            </a:r>
            <a:r>
              <a:rPr lang="en-US" sz="1200" spc="-1" dirty="0" err="1">
                <a:solidFill>
                  <a:srgbClr val="C00000"/>
                </a:solidFill>
                <a:latin typeface="Arial"/>
                <a:ea typeface="DejaVu Sans"/>
              </a:rPr>
              <a:t>wt</a:t>
            </a:r>
            <a:endParaRPr lang="en-GB" sz="1200" dirty="0"/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in </a:t>
            </a:r>
            <a:r>
              <a:rPr lang="en-US" sz="1200" spc="-1" dirty="0" err="1">
                <a:solidFill>
                  <a:srgbClr val="C00000"/>
                </a:solidFill>
                <a:latin typeface="Arial"/>
                <a:ea typeface="DejaVu Sans"/>
              </a:rPr>
              <a:t>wt</a:t>
            </a:r>
            <a:endParaRPr lang="en-GB" sz="1200" dirty="0"/>
          </a:p>
          <a:p>
            <a:endParaRPr lang="en-GB" sz="12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endParaRPr lang="en-GB" sz="12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in </a:t>
            </a:r>
            <a:r>
              <a:rPr lang="en-US" sz="1200" spc="-1" dirty="0" err="1">
                <a:solidFill>
                  <a:srgbClr val="C00000"/>
                </a:solidFill>
                <a:latin typeface="Arial"/>
                <a:ea typeface="DejaVu Sans"/>
              </a:rPr>
              <a:t>wt</a:t>
            </a:r>
            <a:endParaRPr lang="en-US" sz="12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in </a:t>
            </a:r>
            <a:r>
              <a:rPr lang="en-US" sz="1200" spc="-1" dirty="0" err="1">
                <a:solidFill>
                  <a:srgbClr val="C00000"/>
                </a:solidFill>
                <a:latin typeface="Arial"/>
                <a:ea typeface="DejaVu Sans"/>
              </a:rPr>
              <a:t>wt</a:t>
            </a:r>
            <a:endParaRPr lang="en-GB" sz="1200" dirty="0"/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in </a:t>
            </a:r>
            <a:r>
              <a:rPr lang="en-US" sz="1200" spc="-1" dirty="0" err="1">
                <a:solidFill>
                  <a:srgbClr val="C00000"/>
                </a:solidFill>
                <a:latin typeface="Arial"/>
                <a:ea typeface="DejaVu Sans"/>
              </a:rPr>
              <a:t>wt</a:t>
            </a:r>
            <a:endParaRPr lang="en-US" sz="1200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4717A6B-93DA-0947-7B4F-6D6CB48100D0}"/>
              </a:ext>
            </a:extLst>
          </p:cNvPr>
          <p:cNvCxnSpPr/>
          <p:nvPr/>
        </p:nvCxnSpPr>
        <p:spPr>
          <a:xfrm>
            <a:off x="2055789" y="2024886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D7E3B17-93AE-71B4-7D8A-558577956FC2}"/>
              </a:ext>
            </a:extLst>
          </p:cNvPr>
          <p:cNvCxnSpPr/>
          <p:nvPr/>
        </p:nvCxnSpPr>
        <p:spPr>
          <a:xfrm>
            <a:off x="2062555" y="3845798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B8B00ED-659B-325F-3E82-438E97FDE3F1}"/>
              </a:ext>
            </a:extLst>
          </p:cNvPr>
          <p:cNvCxnSpPr/>
          <p:nvPr/>
        </p:nvCxnSpPr>
        <p:spPr>
          <a:xfrm>
            <a:off x="2062555" y="4031120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76973F5-803A-ED81-4A67-69F343B78E1F}"/>
              </a:ext>
            </a:extLst>
          </p:cNvPr>
          <p:cNvCxnSpPr/>
          <p:nvPr/>
        </p:nvCxnSpPr>
        <p:spPr>
          <a:xfrm>
            <a:off x="6388369" y="3857571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8DDF492-8FDC-D78D-768A-9F81DBB9304B}"/>
              </a:ext>
            </a:extLst>
          </p:cNvPr>
          <p:cNvCxnSpPr/>
          <p:nvPr/>
        </p:nvCxnSpPr>
        <p:spPr>
          <a:xfrm>
            <a:off x="6388368" y="4026457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CustomShape 3">
            <a:extLst>
              <a:ext uri="{FF2B5EF4-FFF2-40B4-BE49-F238E27FC236}">
                <a16:creationId xmlns:a16="http://schemas.microsoft.com/office/drawing/2014/main" id="{90A2A146-A94A-39D0-C35F-92CECA197AA2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7</a:t>
            </a:fld>
            <a:endParaRPr lang="en-US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940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output structure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119625" y="600815"/>
            <a:ext cx="4046739" cy="3859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buClr>
                <a:srgbClr val="C00000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Phases information can be access as:</a:t>
            </a: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0B96C2-9503-CED6-0BF0-6B421A23DFC3}"/>
              </a:ext>
            </a:extLst>
          </p:cNvPr>
          <p:cNvSpPr txBox="1"/>
          <p:nvPr/>
        </p:nvSpPr>
        <p:spPr>
          <a:xfrm>
            <a:off x="216762" y="1125845"/>
            <a:ext cx="1171074" cy="10156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out.n_SS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out.n_PP</a:t>
            </a:r>
            <a:endParaRPr lang="en-GB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out.SS_vec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out.PP_Vec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B08051-90FB-A0FD-CE1D-258903FEF764}"/>
              </a:ext>
            </a:extLst>
          </p:cNvPr>
          <p:cNvCxnSpPr/>
          <p:nvPr/>
        </p:nvCxnSpPr>
        <p:spPr>
          <a:xfrm>
            <a:off x="1442837" y="1453120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5C87507-46C9-4132-E28E-9C26173D1A66}"/>
              </a:ext>
            </a:extLst>
          </p:cNvPr>
          <p:cNvSpPr txBox="1"/>
          <p:nvPr/>
        </p:nvSpPr>
        <p:spPr>
          <a:xfrm>
            <a:off x="1752329" y="1131852"/>
            <a:ext cx="41068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Number of stable solution phases</a:t>
            </a: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Number of stable pure phases</a:t>
            </a:r>
          </a:p>
          <a:p>
            <a:endParaRPr lang="en-US" sz="12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Vector{</a:t>
            </a:r>
            <a:r>
              <a:rPr lang="en-US" sz="1200" spc="-1" dirty="0" err="1">
                <a:solidFill>
                  <a:srgbClr val="C00000"/>
                </a:solidFill>
                <a:latin typeface="Arial"/>
                <a:ea typeface="DejaVu Sans"/>
              </a:rPr>
              <a:t>MAGEMin_C.LibMAGEMin.SS_data</a:t>
            </a:r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} Vector{</a:t>
            </a:r>
            <a:r>
              <a:rPr lang="en-US" sz="1200" spc="-1" dirty="0" err="1">
                <a:solidFill>
                  <a:srgbClr val="C00000"/>
                </a:solidFill>
                <a:latin typeface="Arial"/>
                <a:ea typeface="DejaVu Sans"/>
              </a:rPr>
              <a:t>MAGEMin_C.LibMAGEMin.SS_data</a:t>
            </a:r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}</a:t>
            </a:r>
            <a:endParaRPr lang="en-GB" sz="12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37576B-17A8-4E71-EA0B-6A1D923B6BFA}"/>
              </a:ext>
            </a:extLst>
          </p:cNvPr>
          <p:cNvCxnSpPr/>
          <p:nvPr/>
        </p:nvCxnSpPr>
        <p:spPr>
          <a:xfrm>
            <a:off x="1442837" y="2006276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350B34-4136-BFEE-432E-DB64E8B7C726}"/>
              </a:ext>
            </a:extLst>
          </p:cNvPr>
          <p:cNvCxnSpPr/>
          <p:nvPr/>
        </p:nvCxnSpPr>
        <p:spPr>
          <a:xfrm>
            <a:off x="1436070" y="1846930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4717A6B-93DA-0947-7B4F-6D6CB48100D0}"/>
              </a:ext>
            </a:extLst>
          </p:cNvPr>
          <p:cNvCxnSpPr/>
          <p:nvPr/>
        </p:nvCxnSpPr>
        <p:spPr>
          <a:xfrm>
            <a:off x="1436070" y="1274929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CustomShape 4">
            <a:extLst>
              <a:ext uri="{FF2B5EF4-FFF2-40B4-BE49-F238E27FC236}">
                <a16:creationId xmlns:a16="http://schemas.microsoft.com/office/drawing/2014/main" id="{7C0FF187-810A-CBB8-777E-B84EBAD00973}"/>
              </a:ext>
            </a:extLst>
          </p:cNvPr>
          <p:cNvSpPr/>
          <p:nvPr/>
        </p:nvSpPr>
        <p:spPr>
          <a:xfrm>
            <a:off x="119625" y="2226942"/>
            <a:ext cx="4535640" cy="3859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buClr>
                <a:srgbClr val="C00000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You can access the details of solution phase 1 as:</a:t>
            </a: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9EC9F-AB5A-11A0-C1C3-5FB9BA737374}"/>
              </a:ext>
            </a:extLst>
          </p:cNvPr>
          <p:cNvSpPr txBox="1"/>
          <p:nvPr/>
        </p:nvSpPr>
        <p:spPr>
          <a:xfrm>
            <a:off x="216762" y="2837406"/>
            <a:ext cx="1429158" cy="276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out.SS_vec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[1].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E60E39-1BC4-E1DA-2EFD-A994F9835DC4}"/>
              </a:ext>
            </a:extLst>
          </p:cNvPr>
          <p:cNvSpPr txBox="1"/>
          <p:nvPr/>
        </p:nvSpPr>
        <p:spPr>
          <a:xfrm>
            <a:off x="1645920" y="281007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then hit the “tab” key</a:t>
            </a:r>
            <a:endParaRPr lang="en-GB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E36A82-7791-A596-F208-B84FAD692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108" y="2770974"/>
            <a:ext cx="564127" cy="3859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385DCD8-FB61-3826-477B-98371BD40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265" y="2612924"/>
            <a:ext cx="4369110" cy="826001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5804206-1418-EEFD-6D21-11EFB6FDC4E0}"/>
              </a:ext>
            </a:extLst>
          </p:cNvPr>
          <p:cNvCxnSpPr/>
          <p:nvPr/>
        </p:nvCxnSpPr>
        <p:spPr>
          <a:xfrm>
            <a:off x="4166364" y="2975905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CustomShape 4">
            <a:extLst>
              <a:ext uri="{FF2B5EF4-FFF2-40B4-BE49-F238E27FC236}">
                <a16:creationId xmlns:a16="http://schemas.microsoft.com/office/drawing/2014/main" id="{48C9A0DD-4F39-939F-77D0-3927F4BDFFB6}"/>
              </a:ext>
            </a:extLst>
          </p:cNvPr>
          <p:cNvSpPr/>
          <p:nvPr/>
        </p:nvSpPr>
        <p:spPr>
          <a:xfrm>
            <a:off x="119624" y="3342780"/>
            <a:ext cx="4046739" cy="3859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buClr>
                <a:srgbClr val="C00000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Then you can access any content of the solution model as</a:t>
            </a: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E6CF17-B860-05FD-52E8-7FCE1B8AE1D1}"/>
              </a:ext>
            </a:extLst>
          </p:cNvPr>
          <p:cNvSpPr txBox="1"/>
          <p:nvPr/>
        </p:nvSpPr>
        <p:spPr>
          <a:xfrm>
            <a:off x="216762" y="3954779"/>
            <a:ext cx="2134854" cy="83099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out.SS_vec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[1].Comp</a:t>
            </a:r>
          </a:p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out.SS_vec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[1].</a:t>
            </a:r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emNames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out.SS_vec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[1].</a:t>
            </a:r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emFrac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CCCCCC"/>
                </a:solidFill>
                <a:latin typeface="Consolas" panose="020B0609020204030204" pitchFamily="49" charset="0"/>
              </a:rPr>
              <a:t>…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710575-EC64-1EE0-EB68-8A0D7B5EA306}"/>
              </a:ext>
            </a:extLst>
          </p:cNvPr>
          <p:cNvSpPr txBox="1"/>
          <p:nvPr/>
        </p:nvSpPr>
        <p:spPr>
          <a:xfrm>
            <a:off x="2750377" y="3953688"/>
            <a:ext cx="3347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Composition of the solution in mol fraction</a:t>
            </a: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End-member names</a:t>
            </a:r>
          </a:p>
          <a:p>
            <a:r>
              <a:rPr lang="en-US" sz="1200" spc="-1" dirty="0">
                <a:solidFill>
                  <a:srgbClr val="C00000"/>
                </a:solidFill>
                <a:latin typeface="Arial"/>
                <a:ea typeface="DejaVu Sans"/>
              </a:rPr>
              <a:t>End-member fraction</a:t>
            </a:r>
            <a:endParaRPr lang="en-GB" sz="12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048DB4B-4CD5-AAE4-B3BE-03BE75546303}"/>
              </a:ext>
            </a:extLst>
          </p:cNvPr>
          <p:cNvCxnSpPr/>
          <p:nvPr/>
        </p:nvCxnSpPr>
        <p:spPr>
          <a:xfrm>
            <a:off x="2434118" y="4096765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7865D3E-7BD3-77CE-0C74-8418D5407578}"/>
              </a:ext>
            </a:extLst>
          </p:cNvPr>
          <p:cNvCxnSpPr/>
          <p:nvPr/>
        </p:nvCxnSpPr>
        <p:spPr>
          <a:xfrm>
            <a:off x="2434118" y="4297291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424D358-DA19-66BE-0889-C2894CE4C6CD}"/>
              </a:ext>
            </a:extLst>
          </p:cNvPr>
          <p:cNvCxnSpPr/>
          <p:nvPr/>
        </p:nvCxnSpPr>
        <p:spPr>
          <a:xfrm>
            <a:off x="2434118" y="4482923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CustomShape 3">
            <a:extLst>
              <a:ext uri="{FF2B5EF4-FFF2-40B4-BE49-F238E27FC236}">
                <a16:creationId xmlns:a16="http://schemas.microsoft.com/office/drawing/2014/main" id="{2C3F82F4-E85E-DFC3-FDFE-F62A96A23199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8</a:t>
            </a:fld>
            <a:endParaRPr lang="en-US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9396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09F7C4-7D36-C32A-FBFC-A544AE0CA402}"/>
              </a:ext>
            </a:extLst>
          </p:cNvPr>
          <p:cNvSpPr txBox="1"/>
          <p:nvPr/>
        </p:nvSpPr>
        <p:spPr>
          <a:xfrm>
            <a:off x="213132" y="1003511"/>
            <a:ext cx="7638332" cy="1446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Initialize_MAGEMin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ig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verbose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P,T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1100.0</a:t>
            </a:r>
            <a:endParaRPr lang="en-GB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Xoxides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"SiO2"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"Al2O3"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CaO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"MgO"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FeO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"Fe2O3"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"K2O"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"Na2O"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"TiO2"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"Cr2O3"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"H2O"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  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48.43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15.19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11.57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10.13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6.65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1.64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0.59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1.87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0.68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sys_in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wt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single_point_minimization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(P, T, data, X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X, 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Xoxides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Xoxides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sys_in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sys_in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Finalize_MAGEMin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(data)</a:t>
            </a: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custom bulk-rock composition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99000" y="610920"/>
            <a:ext cx="8953560" cy="222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Equilibrium calculation with custom bulk-rock composition is </a:t>
            </a:r>
            <a:r>
              <a:rPr lang="en-US" sz="1400" b="0" strike="noStrike" spc="-1" dirty="0" err="1">
                <a:solidFill>
                  <a:srgbClr val="C00000"/>
                </a:solidFill>
                <a:latin typeface="Arial"/>
                <a:ea typeface="DejaVu Sans"/>
              </a:rPr>
              <a:t>straigthforward</a:t>
            </a:r>
            <a:endParaRPr lang="en-US" sz="1400" b="0" strike="noStrike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11" name="CustomShape 4">
            <a:extLst>
              <a:ext uri="{FF2B5EF4-FFF2-40B4-BE49-F238E27FC236}">
                <a16:creationId xmlns:a16="http://schemas.microsoft.com/office/drawing/2014/main" id="{27E23873-F263-AD23-43B0-4B7DD05E5510}"/>
              </a:ext>
            </a:extLst>
          </p:cNvPr>
          <p:cNvSpPr/>
          <p:nvPr/>
        </p:nvSpPr>
        <p:spPr>
          <a:xfrm>
            <a:off x="91440" y="2453100"/>
            <a:ext cx="8096224" cy="9017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260" indent="-342900">
              <a:lnSpc>
                <a:spcPct val="10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400" b="0" strike="noStrike" spc="-1" dirty="0" err="1">
                <a:solidFill>
                  <a:srgbClr val="C00000"/>
                </a:solidFill>
                <a:latin typeface="Arial"/>
                <a:ea typeface="DejaVu Sans"/>
              </a:rPr>
              <a:t>Xoxides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	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  <a:sym typeface="Wingdings" panose="05000000000000000000" pitchFamily="2" charset="2"/>
              </a:rPr>
              <a:t> string array of oxides names</a:t>
            </a:r>
          </a:p>
          <a:p>
            <a:pPr marL="343260" indent="-342900">
              <a:lnSpc>
                <a:spcPct val="10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  <a:sym typeface="Wingdings" panose="05000000000000000000" pitchFamily="2" charset="2"/>
              </a:rPr>
              <a:t>X 		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  <a:sym typeface="Wingdings" panose="05000000000000000000" pitchFamily="2" charset="2"/>
              </a:rPr>
              <a:t> bulk-rock composition, provide either 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  <a:sym typeface="Wingdings" panose="05000000000000000000" pitchFamily="2" charset="2"/>
              </a:rPr>
              <a:t>FeO,O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  <a:sym typeface="Wingdings" panose="05000000000000000000" pitchFamily="2" charset="2"/>
              </a:rPr>
              <a:t> or FeO,Fe2O3</a:t>
            </a:r>
            <a:endParaRPr lang="en-US" sz="1400" b="0" strike="noStrike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343260" indent="-342900">
              <a:lnSpc>
                <a:spcPct val="10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400" b="0" strike="noStrike" spc="-1" dirty="0" err="1">
                <a:solidFill>
                  <a:srgbClr val="C00000"/>
                </a:solidFill>
                <a:latin typeface="Arial"/>
                <a:ea typeface="DejaVu Sans"/>
              </a:rPr>
              <a:t>sys_in</a:t>
            </a: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		</a:t>
            </a: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  <a:sym typeface="Wingdings" panose="05000000000000000000" pitchFamily="2" charset="2"/>
              </a:rPr>
              <a:t></a:t>
            </a: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 system unit: mol or </a:t>
            </a:r>
            <a:r>
              <a:rPr lang="en-US" sz="1400" b="0" strike="noStrike" spc="-1" dirty="0" err="1">
                <a:solidFill>
                  <a:srgbClr val="C00000"/>
                </a:solidFill>
                <a:latin typeface="Arial"/>
                <a:ea typeface="DejaVu Sans"/>
              </a:rPr>
              <a:t>wt</a:t>
            </a: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343260" indent="-342900">
              <a:lnSpc>
                <a:spcPct val="10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sz="1400" b="0" strike="noStrike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9F0D70-97F4-6492-CE49-98A85F16CA2E}"/>
              </a:ext>
            </a:extLst>
          </p:cNvPr>
          <p:cNvSpPr txBox="1"/>
          <p:nvPr/>
        </p:nvSpPr>
        <p:spPr>
          <a:xfrm>
            <a:off x="5809533" y="2390785"/>
            <a:ext cx="2041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cap="small" dirty="0"/>
              <a:t>This snippet can be copied</a:t>
            </a:r>
            <a:endParaRPr lang="en-GB" sz="1100" b="1" cap="small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969A34-8BBB-8E5A-DE91-5AB319C81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568" y="3244976"/>
            <a:ext cx="3550957" cy="1730933"/>
          </a:xfrm>
          <a:prstGeom prst="rect">
            <a:avLst/>
          </a:prstGeom>
        </p:spPr>
      </p:pic>
      <p:sp>
        <p:nvSpPr>
          <p:cNvPr id="16" name="CustomShape 3">
            <a:extLst>
              <a:ext uri="{FF2B5EF4-FFF2-40B4-BE49-F238E27FC236}">
                <a16:creationId xmlns:a16="http://schemas.microsoft.com/office/drawing/2014/main" id="{2132F538-0494-CAF4-1B3C-3D3D023606EE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9</a:t>
            </a:fld>
            <a:endParaRPr lang="en-US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1709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09F7C4-7D36-C32A-FBFC-A544AE0CA402}"/>
              </a:ext>
            </a:extLst>
          </p:cNvPr>
          <p:cNvSpPr txBox="1"/>
          <p:nvPr/>
        </p:nvSpPr>
        <p:spPr>
          <a:xfrm>
            <a:off x="213131" y="879756"/>
            <a:ext cx="8635235" cy="1785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de-DE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    </a:t>
            </a:r>
            <a:r>
              <a:rPr lang="de-DE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Initialize_MAGEMin</a:t>
            </a:r>
            <a:r>
              <a:rPr lang="de-DE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"ig"</a:t>
            </a:r>
            <a:r>
              <a:rPr lang="de-DE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verbose</a:t>
            </a:r>
            <a:r>
              <a:rPr lang="de-DE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e-DE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      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      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1100.0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1000.0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Xoxides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"SiO2"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"Al2O3"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CaO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"MgO"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FeO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"Fe2O3"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"K2O"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"Na2O"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"TiO2"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"Cr2O3"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"H2O"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X1     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48.43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15.19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11.57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10.13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6.65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1.64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0.59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1.87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0.68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X2     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49.43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14.19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11.57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10.13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6.65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1.64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0.59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1.87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0.68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.0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      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[X1,X2]</a:t>
            </a:r>
          </a:p>
          <a:p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sys_in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wt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    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multi_point_minimization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(P, T, data, X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X, 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Xoxides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Xoxides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sys_in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sys_in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Finalize_MAGEMin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(data)</a:t>
            </a: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parallel calculation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99000" y="555920"/>
            <a:ext cx="8953560" cy="222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C00000"/>
                </a:solidFill>
                <a:latin typeface="Arial"/>
                <a:ea typeface="DejaVu Sans"/>
              </a:rPr>
              <a:t>When Julia is launched in parallel, one can perform equilibrium calculation of several points in parallel: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9F0D70-97F4-6492-CE49-98A85F16CA2E}"/>
              </a:ext>
            </a:extLst>
          </p:cNvPr>
          <p:cNvSpPr txBox="1"/>
          <p:nvPr/>
        </p:nvSpPr>
        <p:spPr>
          <a:xfrm>
            <a:off x="6806435" y="2664860"/>
            <a:ext cx="2041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cap="small" dirty="0"/>
              <a:t>This snippet can be copied</a:t>
            </a:r>
            <a:endParaRPr lang="en-GB" sz="1100" b="1" cap="smal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B242B-E0FD-7A49-B409-22BF1242E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31" y="2859690"/>
            <a:ext cx="3816901" cy="20375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EB85D7-D472-90C3-23F7-34DEFDD11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644" y="2746895"/>
            <a:ext cx="2047054" cy="2276416"/>
          </a:xfrm>
          <a:prstGeom prst="rect">
            <a:avLst/>
          </a:prstGeom>
        </p:spPr>
      </p:pic>
      <p:sp>
        <p:nvSpPr>
          <p:cNvPr id="13" name="CustomShape 3">
            <a:extLst>
              <a:ext uri="{FF2B5EF4-FFF2-40B4-BE49-F238E27FC236}">
                <a16:creationId xmlns:a16="http://schemas.microsoft.com/office/drawing/2014/main" id="{36E00BED-E0D1-1858-7878-17F44413622B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10</a:t>
            </a:fld>
            <a:endParaRPr lang="en-US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303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parallel calculation: reading output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99000" y="610920"/>
            <a:ext cx="8953560" cy="222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For multi point minimization the outputs are store as</a:t>
            </a: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To access individual point information simply do</a:t>
            </a: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The number of points can be retrieved using</a:t>
            </a: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Information of each minimization can otherwise be accessed as described in slides 7-8 </a:t>
            </a:r>
            <a:endParaRPr lang="en-US" sz="1400" b="0" strike="noStrike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BCFD45-A559-5C8E-32E6-A540A0D19FA8}"/>
              </a:ext>
            </a:extLst>
          </p:cNvPr>
          <p:cNvSpPr txBox="1"/>
          <p:nvPr/>
        </p:nvSpPr>
        <p:spPr>
          <a:xfrm>
            <a:off x="4644187" y="609519"/>
            <a:ext cx="4052925" cy="276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Vector{</a:t>
            </a:r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MAGEMin_C</a:t>
            </a:r>
            <a:r>
              <a:rPr lang="en-GB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gmin_struct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{Float64, Int64}}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01B46B-601F-A9B5-A078-B23E259D6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81" y="1435299"/>
            <a:ext cx="8614610" cy="6386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8F8C8D-4F06-77BC-82FE-7EE44AE19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81" y="2188215"/>
            <a:ext cx="8614610" cy="6062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4271B4-D1B0-6CBB-05F2-3940AB646FFE}"/>
              </a:ext>
            </a:extLst>
          </p:cNvPr>
          <p:cNvSpPr txBox="1"/>
          <p:nvPr/>
        </p:nvSpPr>
        <p:spPr>
          <a:xfrm>
            <a:off x="199382" y="3298863"/>
            <a:ext cx="1127530" cy="276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length(out)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990B634-1EC4-C3A9-16F0-7B9F697AF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2841" y="3256361"/>
            <a:ext cx="1066949" cy="362001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93120F0-AEEC-E467-FD4D-30125AE45AD4}"/>
              </a:ext>
            </a:extLst>
          </p:cNvPr>
          <p:cNvCxnSpPr/>
          <p:nvPr/>
        </p:nvCxnSpPr>
        <p:spPr>
          <a:xfrm>
            <a:off x="1430340" y="3443623"/>
            <a:ext cx="316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CustomShape 3">
            <a:extLst>
              <a:ext uri="{FF2B5EF4-FFF2-40B4-BE49-F238E27FC236}">
                <a16:creationId xmlns:a16="http://schemas.microsoft.com/office/drawing/2014/main" id="{08FF5081-8DE1-7463-8DB2-5C024DD767BD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11</a:t>
            </a:fld>
            <a:endParaRPr lang="en-US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8146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</a:t>
            </a:r>
            <a:r>
              <a:rPr lang="en-US" sz="2000" b="1" spc="-1" dirty="0">
                <a:solidFill>
                  <a:srgbClr val="000000"/>
                </a:solidFill>
                <a:latin typeface="Bookman Old Style"/>
                <a:ea typeface="DejaVu Sans"/>
              </a:rPr>
              <a:t>some</a:t>
            </a: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 useful commands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99000" y="610920"/>
            <a:ext cx="6728062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Bulk-rock composition can be converted to MAGEMin system unit (mol) with</a:t>
            </a:r>
          </a:p>
        </p:txBody>
      </p:sp>
      <p:sp>
        <p:nvSpPr>
          <p:cNvPr id="17" name="CustomShape 3">
            <a:extLst>
              <a:ext uri="{FF2B5EF4-FFF2-40B4-BE49-F238E27FC236}">
                <a16:creationId xmlns:a16="http://schemas.microsoft.com/office/drawing/2014/main" id="{08FF5081-8DE1-7463-8DB2-5C024DD767BD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12</a:t>
            </a:fld>
            <a:endParaRPr lang="en-US" sz="12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A10A5-AD9A-C28E-9978-A819CFE08904}"/>
              </a:ext>
            </a:extLst>
          </p:cNvPr>
          <p:cNvSpPr txBox="1"/>
          <p:nvPr/>
        </p:nvSpPr>
        <p:spPr>
          <a:xfrm>
            <a:off x="295635" y="962042"/>
            <a:ext cx="7995842" cy="60016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bulk_in_ox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"SiO2"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"Al2O3"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CaO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"MgO"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FeO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"Fe2O3"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"K2O"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"Na2O"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"TiO2"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MnO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"H2O"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bulk_in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69.64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13.76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1.77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1.73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4.32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2.61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2.41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0.80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0.07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bulk_rock,ox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convertBulk4MAGEMin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(bulk_in,bulk_in_ox,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wt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mp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4804AD-A2D8-0A9A-9921-A01670A25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39" y="1940826"/>
            <a:ext cx="1441468" cy="16651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A99A16-2886-67A4-030D-ED6275F1E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520" y="1940826"/>
            <a:ext cx="1408331" cy="1681713"/>
          </a:xfrm>
          <a:prstGeom prst="rect">
            <a:avLst/>
          </a:prstGeom>
        </p:spPr>
      </p:pic>
      <p:sp>
        <p:nvSpPr>
          <p:cNvPr id="12" name="CustomShape 4">
            <a:extLst>
              <a:ext uri="{FF2B5EF4-FFF2-40B4-BE49-F238E27FC236}">
                <a16:creationId xmlns:a16="http://schemas.microsoft.com/office/drawing/2014/main" id="{03C0B02B-4BCB-0AB0-2756-759CCEF149C8}"/>
              </a:ext>
            </a:extLst>
          </p:cNvPr>
          <p:cNvSpPr/>
          <p:nvPr/>
        </p:nvSpPr>
        <p:spPr>
          <a:xfrm>
            <a:off x="288758" y="1575740"/>
            <a:ext cx="8291477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0">
              <a:lnSpc>
                <a:spcPct val="100000"/>
              </a:lnSpc>
              <a:buClr>
                <a:srgbClr val="C00000"/>
              </a:buClr>
            </a:pPr>
            <a:r>
              <a:rPr lang="en-US" sz="1200" i="1" spc="-1" dirty="0">
                <a:solidFill>
                  <a:srgbClr val="C00000"/>
                </a:solidFill>
                <a:latin typeface="Arial"/>
                <a:ea typeface="DejaVu Sans"/>
              </a:rPr>
              <a:t>Note that here, we convert for the “</a:t>
            </a:r>
            <a:r>
              <a:rPr lang="en-US" sz="1200" i="1" spc="-1" dirty="0" err="1">
                <a:solidFill>
                  <a:srgbClr val="C00000"/>
                </a:solidFill>
                <a:latin typeface="Arial"/>
                <a:ea typeface="DejaVu Sans"/>
              </a:rPr>
              <a:t>mp</a:t>
            </a:r>
            <a:r>
              <a:rPr lang="en-US" sz="1200" i="1" spc="-1" dirty="0">
                <a:solidFill>
                  <a:srgbClr val="C00000"/>
                </a:solidFill>
                <a:latin typeface="Arial"/>
                <a:ea typeface="DejaVu Sans"/>
              </a:rPr>
              <a:t>” (metapelite) database from </a:t>
            </a:r>
            <a:r>
              <a:rPr lang="en-US" sz="1200" i="1" spc="-1" dirty="0" err="1">
                <a:solidFill>
                  <a:srgbClr val="C00000"/>
                </a:solidFill>
                <a:latin typeface="Arial"/>
                <a:ea typeface="DejaVu Sans"/>
              </a:rPr>
              <a:t>wt</a:t>
            </a:r>
            <a:r>
              <a:rPr lang="en-US" sz="1200" i="1" spc="-1" dirty="0">
                <a:solidFill>
                  <a:srgbClr val="C00000"/>
                </a:solidFill>
                <a:latin typeface="Arial"/>
                <a:ea typeface="DejaVu Sans"/>
              </a:rPr>
              <a:t> to mol and transforming FeO,Fe2O3 to </a:t>
            </a:r>
            <a:r>
              <a:rPr lang="en-US" sz="1200" i="1" spc="-1" dirty="0" err="1">
                <a:solidFill>
                  <a:srgbClr val="C00000"/>
                </a:solidFill>
                <a:latin typeface="Arial"/>
                <a:ea typeface="DejaVu Sans"/>
              </a:rPr>
              <a:t>FeO,O</a:t>
            </a:r>
            <a:endParaRPr lang="en-US" sz="1200" i="1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18" name="CustomShape 4">
            <a:extLst>
              <a:ext uri="{FF2B5EF4-FFF2-40B4-BE49-F238E27FC236}">
                <a16:creationId xmlns:a16="http://schemas.microsoft.com/office/drawing/2014/main" id="{3F7FF1DC-B36B-482B-FDA0-84744BAE7BD2}"/>
              </a:ext>
            </a:extLst>
          </p:cNvPr>
          <p:cNvSpPr/>
          <p:nvPr/>
        </p:nvSpPr>
        <p:spPr>
          <a:xfrm>
            <a:off x="211819" y="3795600"/>
            <a:ext cx="8581545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Declaring an “array of output structure” to store results of several minimizations can be done with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D37451-173F-CAC8-C93F-A2361801362F}"/>
              </a:ext>
            </a:extLst>
          </p:cNvPr>
          <p:cNvSpPr txBox="1"/>
          <p:nvPr/>
        </p:nvSpPr>
        <p:spPr>
          <a:xfrm>
            <a:off x="288758" y="4105519"/>
            <a:ext cx="5321394" cy="4616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CCCCCC"/>
                </a:solidFill>
                <a:latin typeface="Consolas" panose="020B0609020204030204" pitchFamily="49" charset="0"/>
              </a:rPr>
              <a:t>n   = 10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 = Vector{</a:t>
            </a:r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MAGEMin_C.gmin_struct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{Float64, Int64}}(</a:t>
            </a:r>
            <a:r>
              <a:rPr lang="en-GB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undef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n)</a:t>
            </a:r>
          </a:p>
        </p:txBody>
      </p:sp>
      <p:sp>
        <p:nvSpPr>
          <p:cNvPr id="22" name="CustomShape 4">
            <a:extLst>
              <a:ext uri="{FF2B5EF4-FFF2-40B4-BE49-F238E27FC236}">
                <a16:creationId xmlns:a16="http://schemas.microsoft.com/office/drawing/2014/main" id="{4C7CB2F4-1D9E-343C-D43A-0CA2FAF18E71}"/>
              </a:ext>
            </a:extLst>
          </p:cNvPr>
          <p:cNvSpPr/>
          <p:nvPr/>
        </p:nvSpPr>
        <p:spPr>
          <a:xfrm>
            <a:off x="211819" y="4567184"/>
            <a:ext cx="8291477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60">
              <a:lnSpc>
                <a:spcPct val="100000"/>
              </a:lnSpc>
              <a:buClr>
                <a:srgbClr val="C00000"/>
              </a:buClr>
            </a:pPr>
            <a:r>
              <a:rPr lang="en-US" sz="1200" i="1" spc="-1" dirty="0">
                <a:solidFill>
                  <a:srgbClr val="C00000"/>
                </a:solidFill>
                <a:latin typeface="Arial"/>
                <a:ea typeface="DejaVu Sans"/>
              </a:rPr>
              <a:t>Note that n can be any size</a:t>
            </a:r>
          </a:p>
        </p:txBody>
      </p:sp>
    </p:spTree>
    <p:extLst>
      <p:ext uri="{BB962C8B-B14F-4D97-AF65-F5344CB8AC3E}">
        <p14:creationId xmlns:p14="http://schemas.microsoft.com/office/powerpoint/2010/main" val="4173483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</a:t>
            </a:r>
            <a:r>
              <a:rPr lang="en-US" sz="2000" b="1" spc="-1" dirty="0">
                <a:solidFill>
                  <a:srgbClr val="000000"/>
                </a:solidFill>
                <a:latin typeface="Bookman Old Style"/>
                <a:ea typeface="DejaVu Sans"/>
              </a:rPr>
              <a:t>fractional crystallization: definition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112750" y="521893"/>
            <a:ext cx="8318976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In the following example we are going the fractionate a basaltic composition using the igneous database. We are also going to use “Plots” package to visualize the results</a:t>
            </a: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First declare the database, initialize MAGEMin and provide bulk-rock composition, oxide list and system unit</a:t>
            </a:r>
          </a:p>
        </p:txBody>
      </p:sp>
      <p:sp>
        <p:nvSpPr>
          <p:cNvPr id="17" name="CustomShape 3">
            <a:extLst>
              <a:ext uri="{FF2B5EF4-FFF2-40B4-BE49-F238E27FC236}">
                <a16:creationId xmlns:a16="http://schemas.microsoft.com/office/drawing/2014/main" id="{08FF5081-8DE1-7463-8DB2-5C024DD767BD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13</a:t>
            </a:fld>
            <a:endParaRPr lang="en-US" sz="12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A10A5-AD9A-C28E-9978-A819CFE08904}"/>
              </a:ext>
            </a:extLst>
          </p:cNvPr>
          <p:cNvSpPr txBox="1"/>
          <p:nvPr/>
        </p:nvSpPr>
        <p:spPr>
          <a:xfrm>
            <a:off x="295635" y="1567060"/>
            <a:ext cx="8318976" cy="16158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MAGEMin_C</a:t>
            </a:r>
          </a:p>
          <a:p>
            <a:r>
              <a:rPr lang="en-GB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Plots</a:t>
            </a:r>
          </a:p>
          <a:p>
            <a:b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dtb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ig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GB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Initialize_MAGEMin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dtb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Xoxides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"SiO2"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"Al2O3"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CaO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"MgO"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FeO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"K2O"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"Na2O"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"TiO2"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"Cr2O3"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"H2O"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  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50.0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8.7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11.7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12.14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7.7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sys_in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"mol"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B9DA33-B90F-F0D1-8C8B-1093F1D6A289}"/>
              </a:ext>
            </a:extLst>
          </p:cNvPr>
          <p:cNvSpPr txBox="1"/>
          <p:nvPr/>
        </p:nvSpPr>
        <p:spPr>
          <a:xfrm>
            <a:off x="2927518" y="3530920"/>
            <a:ext cx="5687093" cy="11079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  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5.0</a:t>
            </a: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</a:p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Ts 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1200.0</a:t>
            </a:r>
            <a:endParaRPr lang="en-GB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600.0</a:t>
            </a:r>
          </a:p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  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(Ts, stop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length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GB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MAGEMin_C.gmin_struct</a:t>
            </a:r>
            <a:r>
              <a:rPr lang="en-GB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{Float64, Int64}}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undef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6CFF93-7ED9-C856-9B7D-F1F94FBE8982}"/>
              </a:ext>
            </a:extLst>
          </p:cNvPr>
          <p:cNvCxnSpPr>
            <a:cxnSpLocks/>
          </p:cNvCxnSpPr>
          <p:nvPr/>
        </p:nvCxnSpPr>
        <p:spPr>
          <a:xfrm>
            <a:off x="1045029" y="3661547"/>
            <a:ext cx="181515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9545FDC-637F-9CB3-7BAC-A67DD1C755C6}"/>
              </a:ext>
            </a:extLst>
          </p:cNvPr>
          <p:cNvCxnSpPr>
            <a:cxnSpLocks/>
          </p:cNvCxnSpPr>
          <p:nvPr/>
        </p:nvCxnSpPr>
        <p:spPr>
          <a:xfrm>
            <a:off x="2275687" y="3848323"/>
            <a:ext cx="5845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F88E27-69A8-FFE0-39C4-F3391A780C75}"/>
              </a:ext>
            </a:extLst>
          </p:cNvPr>
          <p:cNvCxnSpPr>
            <a:cxnSpLocks/>
          </p:cNvCxnSpPr>
          <p:nvPr/>
        </p:nvCxnSpPr>
        <p:spPr>
          <a:xfrm>
            <a:off x="1739423" y="4014474"/>
            <a:ext cx="112076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1AE6B5-2ED1-72F1-514D-A38E51E95053}"/>
              </a:ext>
            </a:extLst>
          </p:cNvPr>
          <p:cNvCxnSpPr>
            <a:cxnSpLocks/>
          </p:cNvCxnSpPr>
          <p:nvPr/>
        </p:nvCxnSpPr>
        <p:spPr>
          <a:xfrm>
            <a:off x="1684421" y="4178332"/>
            <a:ext cx="117701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39FC77-C803-FEF4-57BD-472CA0385356}"/>
              </a:ext>
            </a:extLst>
          </p:cNvPr>
          <p:cNvCxnSpPr>
            <a:cxnSpLocks/>
          </p:cNvCxnSpPr>
          <p:nvPr/>
        </p:nvCxnSpPr>
        <p:spPr>
          <a:xfrm>
            <a:off x="2035056" y="4344483"/>
            <a:ext cx="82638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89A1BC-9D1C-37C1-919A-907CF66246A3}"/>
              </a:ext>
            </a:extLst>
          </p:cNvPr>
          <p:cNvCxnSpPr>
            <a:cxnSpLocks/>
          </p:cNvCxnSpPr>
          <p:nvPr/>
        </p:nvCxnSpPr>
        <p:spPr>
          <a:xfrm>
            <a:off x="1801299" y="4517509"/>
            <a:ext cx="1060141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8B324F6-3E82-6F63-4918-6B80513353C0}"/>
              </a:ext>
            </a:extLst>
          </p:cNvPr>
          <p:cNvSpPr txBox="1"/>
          <p:nvPr/>
        </p:nvSpPr>
        <p:spPr>
          <a:xfrm>
            <a:off x="295635" y="3529346"/>
            <a:ext cx="218346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spc="-1" dirty="0">
                <a:solidFill>
                  <a:srgbClr val="C00000"/>
                </a:solidFill>
                <a:latin typeface="Arial"/>
                <a:ea typeface="DejaVu Sans"/>
              </a:rPr>
              <a:t>Pressure</a:t>
            </a:r>
          </a:p>
          <a:p>
            <a:r>
              <a:rPr lang="en-US" sz="1100" spc="-1" dirty="0">
                <a:solidFill>
                  <a:srgbClr val="C00000"/>
                </a:solidFill>
                <a:latin typeface="Arial"/>
                <a:ea typeface="DejaVu Sans"/>
              </a:rPr>
              <a:t>Number of fractionation steps</a:t>
            </a:r>
          </a:p>
          <a:p>
            <a:r>
              <a:rPr lang="en-US" sz="1100" spc="-1" dirty="0">
                <a:solidFill>
                  <a:srgbClr val="C00000"/>
                </a:solidFill>
                <a:latin typeface="Arial"/>
                <a:ea typeface="DejaVu Sans"/>
              </a:rPr>
              <a:t>Starting temperature</a:t>
            </a:r>
          </a:p>
          <a:p>
            <a:r>
              <a:rPr lang="en-US" sz="1100" spc="-1" dirty="0">
                <a:solidFill>
                  <a:srgbClr val="C00000"/>
                </a:solidFill>
                <a:latin typeface="Arial"/>
                <a:ea typeface="DejaVu Sans"/>
              </a:rPr>
              <a:t>Ending temperature</a:t>
            </a:r>
          </a:p>
          <a:p>
            <a:r>
              <a:rPr lang="en-US" sz="1100" spc="-1" dirty="0">
                <a:solidFill>
                  <a:srgbClr val="C00000"/>
                </a:solidFill>
                <a:latin typeface="Arial"/>
                <a:ea typeface="DejaVu Sans"/>
              </a:rPr>
              <a:t>Define temperature range</a:t>
            </a:r>
          </a:p>
          <a:p>
            <a:r>
              <a:rPr lang="en-US" sz="1100" spc="-1" dirty="0">
                <a:solidFill>
                  <a:srgbClr val="C00000"/>
                </a:solidFill>
                <a:latin typeface="Arial"/>
                <a:ea typeface="DejaVu Sans"/>
              </a:rPr>
              <a:t>Declare output vector</a:t>
            </a:r>
          </a:p>
          <a:p>
            <a:endParaRPr lang="en-GB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3EB72-9BCC-4878-2F5A-9D750C894F53}"/>
              </a:ext>
            </a:extLst>
          </p:cNvPr>
          <p:cNvSpPr txBox="1"/>
          <p:nvPr/>
        </p:nvSpPr>
        <p:spPr>
          <a:xfrm>
            <a:off x="6553080" y="3290904"/>
            <a:ext cx="2041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cap="small" dirty="0"/>
              <a:t>This snippet can be copied</a:t>
            </a:r>
            <a:endParaRPr lang="en-GB" sz="1100" b="1" cap="smal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8F64EC-EE17-2533-FF7D-0D41A43C0CE6}"/>
              </a:ext>
            </a:extLst>
          </p:cNvPr>
          <p:cNvSpPr txBox="1"/>
          <p:nvPr/>
        </p:nvSpPr>
        <p:spPr>
          <a:xfrm>
            <a:off x="6664898" y="4603474"/>
            <a:ext cx="2041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cap="small" dirty="0"/>
              <a:t>This snippet can be copied</a:t>
            </a:r>
            <a:endParaRPr lang="en-GB" sz="1100" b="1" cap="small" dirty="0"/>
          </a:p>
        </p:txBody>
      </p:sp>
    </p:spTree>
    <p:extLst>
      <p:ext uri="{BB962C8B-B14F-4D97-AF65-F5344CB8AC3E}">
        <p14:creationId xmlns:p14="http://schemas.microsoft.com/office/powerpoint/2010/main" val="353590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stomShape 4">
            <a:extLst>
              <a:ext uri="{FF2B5EF4-FFF2-40B4-BE49-F238E27FC236}">
                <a16:creationId xmlns:a16="http://schemas.microsoft.com/office/drawing/2014/main" id="{32BF17D3-D52F-65D1-8FDE-FECEDB5FDC98}"/>
              </a:ext>
            </a:extLst>
          </p:cNvPr>
          <p:cNvSpPr/>
          <p:nvPr/>
        </p:nvSpPr>
        <p:spPr>
          <a:xfrm>
            <a:off x="158131" y="2325581"/>
            <a:ext cx="8318976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b="1" spc="-1" dirty="0">
                <a:solidFill>
                  <a:srgbClr val="C00000"/>
                </a:solidFill>
                <a:latin typeface="Arial"/>
                <a:ea typeface="DejaVu Sans"/>
              </a:rPr>
              <a:t>In the above code:</a:t>
            </a:r>
          </a:p>
          <a:p>
            <a:pPr marL="800460" lvl="1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We loop through all defined steps (64 as defined in previous slide)</a:t>
            </a:r>
          </a:p>
          <a:p>
            <a:pPr marL="800460" lvl="1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Perform the equilibrium calculation given the temperature array T[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i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] and the bulk composition X. Note that the result are stored in “out[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i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]”</a:t>
            </a:r>
          </a:p>
          <a:p>
            <a:pPr marL="800460" lvl="1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If “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liq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” is stable, we then update the bulk-rock composition X to be equal to the composition of the melt “out[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i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].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bulk_M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”</a:t>
            </a:r>
            <a:b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</a:br>
            <a:r>
              <a:rPr lang="en-US" sz="1400" u="sng" spc="-1" dirty="0">
                <a:solidFill>
                  <a:srgbClr val="C00000"/>
                </a:solidFill>
                <a:latin typeface="Arial"/>
                <a:ea typeface="DejaVu Sans"/>
              </a:rPr>
              <a:t>otherwise, the bulk is unchanged</a:t>
            </a:r>
            <a:b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</a:b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</a:t>
            </a:r>
            <a:r>
              <a:rPr lang="en-US" sz="2000" b="1" spc="-1" dirty="0">
                <a:solidFill>
                  <a:srgbClr val="000000"/>
                </a:solidFill>
                <a:latin typeface="Bookman Old Style"/>
                <a:ea typeface="DejaVu Sans"/>
              </a:rPr>
              <a:t>fractional crystallization: calculation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112750" y="521893"/>
            <a:ext cx="8318976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In its simplest form, fractional crystallization uses the composition of the stable melt at a given temperature, as the starting bulk-rock </a:t>
            </a:r>
            <a:r>
              <a:rPr lang="en-US" sz="1400" spc="-1">
                <a:solidFill>
                  <a:srgbClr val="C00000"/>
                </a:solidFill>
                <a:latin typeface="Arial"/>
                <a:ea typeface="DejaVu Sans"/>
              </a:rPr>
              <a:t>composition for a 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decreased temperature</a:t>
            </a:r>
          </a:p>
        </p:txBody>
      </p:sp>
      <p:sp>
        <p:nvSpPr>
          <p:cNvPr id="17" name="CustomShape 3">
            <a:extLst>
              <a:ext uri="{FF2B5EF4-FFF2-40B4-BE49-F238E27FC236}">
                <a16:creationId xmlns:a16="http://schemas.microsoft.com/office/drawing/2014/main" id="{08FF5081-8DE1-7463-8DB2-5C024DD767BD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14</a:t>
            </a:fld>
            <a:endParaRPr lang="en-US" sz="12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A10A5-AD9A-C28E-9978-A819CFE08904}"/>
              </a:ext>
            </a:extLst>
          </p:cNvPr>
          <p:cNvSpPr txBox="1"/>
          <p:nvPr/>
        </p:nvSpPr>
        <p:spPr>
          <a:xfrm>
            <a:off x="171881" y="1159285"/>
            <a:ext cx="8064594" cy="11079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out[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deepcopy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single_point_minimization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(P, T[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data, X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X, 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Xoxides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Xoxides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sys_in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sys_in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liq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out[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ph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                                   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If liquid phase is</a:t>
            </a:r>
          </a:p>
          <a:p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X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deepcopy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(out[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bulk_M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3EB72-9BCC-4878-2F5A-9D750C894F53}"/>
              </a:ext>
            </a:extLst>
          </p:cNvPr>
          <p:cNvSpPr txBox="1"/>
          <p:nvPr/>
        </p:nvSpPr>
        <p:spPr>
          <a:xfrm>
            <a:off x="6389795" y="2228318"/>
            <a:ext cx="2041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cap="small" dirty="0"/>
              <a:t>This snippet can be copied</a:t>
            </a:r>
            <a:endParaRPr lang="en-GB" sz="1100" b="1" cap="small" dirty="0"/>
          </a:p>
        </p:txBody>
      </p:sp>
    </p:spTree>
    <p:extLst>
      <p:ext uri="{BB962C8B-B14F-4D97-AF65-F5344CB8AC3E}">
        <p14:creationId xmlns:p14="http://schemas.microsoft.com/office/powerpoint/2010/main" val="1944138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stomShape 4">
            <a:extLst>
              <a:ext uri="{FF2B5EF4-FFF2-40B4-BE49-F238E27FC236}">
                <a16:creationId xmlns:a16="http://schemas.microsoft.com/office/drawing/2014/main" id="{32BF17D3-D52F-65D1-8FDE-FECEDB5FDC98}"/>
              </a:ext>
            </a:extLst>
          </p:cNvPr>
          <p:cNvSpPr/>
          <p:nvPr/>
        </p:nvSpPr>
        <p:spPr>
          <a:xfrm>
            <a:off x="158131" y="3061224"/>
            <a:ext cx="8318976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b="1" spc="-1" dirty="0">
                <a:solidFill>
                  <a:srgbClr val="C00000"/>
                </a:solidFill>
                <a:latin typeface="Arial"/>
                <a:ea typeface="DejaVu Sans"/>
              </a:rPr>
              <a:t>In the code above, we extract and clean several information</a:t>
            </a:r>
          </a:p>
          <a:p>
            <a:pPr marL="800460" lvl="1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The fraction of stable melt in mol</a:t>
            </a:r>
          </a:p>
          <a:p>
            <a:pPr marL="800460" lvl="1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The accumulated stable melt fraction with respect to the starting mol quantity</a:t>
            </a:r>
          </a:p>
          <a:p>
            <a:pPr marL="800460" lvl="1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We retrieve the array index of SiO2 and the indices of all oxides excluding water, this for anhydrous normalization</a:t>
            </a:r>
          </a:p>
          <a:p>
            <a:pPr marL="800460" lvl="1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We compute the SiO2 content of the melt on an anhydrous basis</a:t>
            </a:r>
          </a:p>
          <a:p>
            <a:pPr marL="800460" lvl="1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We retrieve the melt density and set to 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NaN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 the values equal to 0.0 (when melt is not stable)</a:t>
            </a:r>
            <a:b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</a:b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</a:t>
            </a:r>
            <a:r>
              <a:rPr lang="en-US" sz="2000" b="1" spc="-1" dirty="0">
                <a:solidFill>
                  <a:srgbClr val="000000"/>
                </a:solidFill>
                <a:latin typeface="Bookman Old Style"/>
                <a:ea typeface="DejaVu Sans"/>
              </a:rPr>
              <a:t>fractional crystallization: data extraction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112750" y="521893"/>
            <a:ext cx="8318976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Now that the calculation is performed, we need to be able to transform the saved data in a useful way to be plotted. The code snippet below, gives you some hints on how it can be done</a:t>
            </a:r>
          </a:p>
        </p:txBody>
      </p:sp>
      <p:sp>
        <p:nvSpPr>
          <p:cNvPr id="17" name="CustomShape 3">
            <a:extLst>
              <a:ext uri="{FF2B5EF4-FFF2-40B4-BE49-F238E27FC236}">
                <a16:creationId xmlns:a16="http://schemas.microsoft.com/office/drawing/2014/main" id="{08FF5081-8DE1-7463-8DB2-5C024DD767BD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15</a:t>
            </a:fld>
            <a:endParaRPr lang="en-US" sz="12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A10A5-AD9A-C28E-9978-A819CFE08904}"/>
              </a:ext>
            </a:extLst>
          </p:cNvPr>
          <p:cNvSpPr txBox="1"/>
          <p:nvPr/>
        </p:nvSpPr>
        <p:spPr>
          <a:xfrm>
            <a:off x="171881" y="1159285"/>
            <a:ext cx="8064594" cy="1785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frac_M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[out[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frac_M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n_steps] </a:t>
            </a: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frac_M_tot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accumulate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frac_M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SiO2_id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findfirst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(out[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oxides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.==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"SiO2</a:t>
            </a:r>
            <a:endParaRPr lang="en-GB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dry_id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findall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(out[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oxides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.!=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"H2O"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GB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SiO2_M_dry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 (out[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bulk_M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[SiO2_id]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(out[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bulk_M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dry_id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GB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n_steps]</a:t>
            </a:r>
          </a:p>
          <a:p>
            <a:endParaRPr lang="en-GB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rho_M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 (out[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rho_M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GB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n_steps]</a:t>
            </a:r>
            <a:b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rho_M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rho_M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.==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.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3EB72-9BCC-4878-2F5A-9D750C894F53}"/>
              </a:ext>
            </a:extLst>
          </p:cNvPr>
          <p:cNvSpPr txBox="1"/>
          <p:nvPr/>
        </p:nvSpPr>
        <p:spPr>
          <a:xfrm>
            <a:off x="6389795" y="2899548"/>
            <a:ext cx="2041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cap="small" dirty="0"/>
              <a:t>This snippet can be copied</a:t>
            </a:r>
            <a:endParaRPr lang="en-GB" sz="1100" b="1" cap="small" dirty="0"/>
          </a:p>
        </p:txBody>
      </p:sp>
    </p:spTree>
    <p:extLst>
      <p:ext uri="{BB962C8B-B14F-4D97-AF65-F5344CB8AC3E}">
        <p14:creationId xmlns:p14="http://schemas.microsoft.com/office/powerpoint/2010/main" val="4216182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</a:t>
            </a:r>
            <a:r>
              <a:rPr lang="en-US" sz="2000" b="1" spc="-1" dirty="0">
                <a:solidFill>
                  <a:srgbClr val="000000"/>
                </a:solidFill>
                <a:latin typeface="Bookman Old Style"/>
                <a:ea typeface="DejaVu Sans"/>
              </a:rPr>
              <a:t>fractional crystallization: visualization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112750" y="494393"/>
            <a:ext cx="8318976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Now that some data have been converted, we can visualize it. Here is provided one example of visualization using Plots, you are of course welcome to use any other package</a:t>
            </a:r>
          </a:p>
        </p:txBody>
      </p:sp>
      <p:sp>
        <p:nvSpPr>
          <p:cNvPr id="17" name="CustomShape 3">
            <a:extLst>
              <a:ext uri="{FF2B5EF4-FFF2-40B4-BE49-F238E27FC236}">
                <a16:creationId xmlns:a16="http://schemas.microsoft.com/office/drawing/2014/main" id="{08FF5081-8DE1-7463-8DB2-5C024DD767BD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16</a:t>
            </a:fld>
            <a:endParaRPr lang="en-US" sz="12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A10A5-AD9A-C28E-9978-A819CFE08904}"/>
              </a:ext>
            </a:extLst>
          </p:cNvPr>
          <p:cNvSpPr txBox="1"/>
          <p:nvPr/>
        </p:nvSpPr>
        <p:spPr>
          <a:xfrm>
            <a:off x="171881" y="1028658"/>
            <a:ext cx="8731488" cy="9541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rgbClr val="CCCCCC"/>
                </a:solidFill>
                <a:latin typeface="Consolas" panose="020B0609020204030204" pitchFamily="49" charset="0"/>
              </a:rPr>
              <a:t>p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T,frac_M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xflip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"Temperature (°C)"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marker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:circle,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markersize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"Melt fraction (mol)"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legend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p2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T,frac_M_tot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xflip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"Temperature (°C)"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marker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:circle,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markersize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"Total melt fraction (mol)"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legend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800" dirty="0">
                <a:solidFill>
                  <a:srgbClr val="CCCCCC"/>
                </a:solidFill>
                <a:latin typeface="Consolas" panose="020B0609020204030204" pitchFamily="49" charset="0"/>
              </a:rPr>
              <a:t>p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T,rho_M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xflip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"Temperature (°C)"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marker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:circle,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markersize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"Melt density (kg/m³)"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legend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800" dirty="0">
                <a:solidFill>
                  <a:srgbClr val="CCCCCC"/>
                </a:solidFill>
                <a:latin typeface="Consolas" panose="020B0609020204030204" pitchFamily="49" charset="0"/>
              </a:rPr>
              <a:t>p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4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(T,SiO2_M_dry,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xflip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"Temperature (°C)"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marker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:circle,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markersize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SiO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₂ melt anhydrous (mol%)"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legend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fig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(p1, p2, p3, p4, layout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size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800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GB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savefig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fig,</a:t>
            </a:r>
            <a:r>
              <a:rPr lang="en-GB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"frac_crystallization.png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3EB72-9BCC-4878-2F5A-9D750C894F53}"/>
              </a:ext>
            </a:extLst>
          </p:cNvPr>
          <p:cNvSpPr txBox="1"/>
          <p:nvPr/>
        </p:nvSpPr>
        <p:spPr>
          <a:xfrm>
            <a:off x="7015437" y="1919658"/>
            <a:ext cx="2041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cap="small" dirty="0"/>
              <a:t>This snippet can be copied</a:t>
            </a:r>
            <a:endParaRPr lang="en-GB" sz="1100" b="1" cap="small" dirty="0"/>
          </a:p>
        </p:txBody>
      </p:sp>
      <p:sp>
        <p:nvSpPr>
          <p:cNvPr id="11" name="CustomShape 4">
            <a:extLst>
              <a:ext uri="{FF2B5EF4-FFF2-40B4-BE49-F238E27FC236}">
                <a16:creationId xmlns:a16="http://schemas.microsoft.com/office/drawing/2014/main" id="{067E6EEB-9749-8DB4-AB67-28658CAD807C}"/>
              </a:ext>
            </a:extLst>
          </p:cNvPr>
          <p:cNvSpPr/>
          <p:nvPr/>
        </p:nvSpPr>
        <p:spPr>
          <a:xfrm>
            <a:off x="171881" y="2220139"/>
            <a:ext cx="1691295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Which yields</a:t>
            </a:r>
          </a:p>
        </p:txBody>
      </p:sp>
      <p:pic>
        <p:nvPicPr>
          <p:cNvPr id="14" name="Picture 13" descr="A graph of different types of temperature&#10;&#10;Description automatically generated">
            <a:extLst>
              <a:ext uri="{FF2B5EF4-FFF2-40B4-BE49-F238E27FC236}">
                <a16:creationId xmlns:a16="http://schemas.microsoft.com/office/drawing/2014/main" id="{40CDC2B3-9AB0-AF67-FFFA-C88538EF2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543" y="2083433"/>
            <a:ext cx="3955006" cy="296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5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graph&#10;&#10;Description automatically generated">
            <a:extLst>
              <a:ext uri="{FF2B5EF4-FFF2-40B4-BE49-F238E27FC236}">
                <a16:creationId xmlns:a16="http://schemas.microsoft.com/office/drawing/2014/main" id="{9F78A515-66AA-0210-7E0D-5AF1D9E41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0" y="2751427"/>
            <a:ext cx="3783490" cy="2219333"/>
          </a:xfrm>
          <a:prstGeom prst="rect">
            <a:avLst/>
          </a:prstGeom>
        </p:spPr>
      </p:pic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advanced example: </a:t>
            </a:r>
            <a:r>
              <a:rPr lang="en-US" sz="2000" b="1" spc="-1" dirty="0">
                <a:solidFill>
                  <a:srgbClr val="000000"/>
                </a:solidFill>
                <a:latin typeface="Bookman Old Style"/>
                <a:ea typeface="DejaVu Sans"/>
              </a:rPr>
              <a:t>isentropic path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112750" y="494393"/>
            <a:ext cx="8318976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Isentropic paths (Adiabatic decompression) can be generated directly in MAGEMinApp, but here we are going to see how this can be achieved using MAGEMin_C</a:t>
            </a: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The objective is to provide a starting PT condition, compute the entropy of the system, then gradually decrease pressure while keeping entropy constant and computing the corresponding temperature</a:t>
            </a: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Because the temperature at decreased pressure that keeps entropy constant is unknown, we need a strategy to constrain it. Here we are going to use the bisection method.</a:t>
            </a: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The idea is to reformulate the problem as a root finding problem and use the bisection method as described below:</a:t>
            </a:r>
          </a:p>
        </p:txBody>
      </p:sp>
      <p:sp>
        <p:nvSpPr>
          <p:cNvPr id="17" name="CustomShape 3">
            <a:extLst>
              <a:ext uri="{FF2B5EF4-FFF2-40B4-BE49-F238E27FC236}">
                <a16:creationId xmlns:a16="http://schemas.microsoft.com/office/drawing/2014/main" id="{08FF5081-8DE1-7463-8DB2-5C024DD767BD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17</a:t>
            </a:fld>
            <a:endParaRPr lang="en-US" sz="1200" b="0" strike="noStrike" spc="-1" dirty="0"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9DE2BF-20CB-03A1-E707-39DFE128ABE7}"/>
              </a:ext>
            </a:extLst>
          </p:cNvPr>
          <p:cNvSpPr txBox="1"/>
          <p:nvPr/>
        </p:nvSpPr>
        <p:spPr>
          <a:xfrm>
            <a:off x="4706066" y="3056985"/>
            <a:ext cx="39085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f(x) = 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Sref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 – 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Sx</a:t>
            </a:r>
            <a:b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</a:br>
            <a:r>
              <a:rPr lang="en-US" sz="1400" i="1" spc="-1" dirty="0">
                <a:solidFill>
                  <a:srgbClr val="C00000"/>
                </a:solidFill>
                <a:latin typeface="Arial"/>
                <a:ea typeface="DejaVu Sans"/>
              </a:rPr>
              <a:t>where x is temperature</a:t>
            </a:r>
            <a:br>
              <a:rPr lang="en-US" sz="1400" i="1" spc="-1" dirty="0">
                <a:solidFill>
                  <a:srgbClr val="C00000"/>
                </a:solidFill>
                <a:latin typeface="Arial"/>
                <a:ea typeface="DejaVu Sans"/>
              </a:rPr>
            </a:br>
            <a:r>
              <a:rPr lang="en-US" sz="1400" i="1" spc="-1" dirty="0" err="1">
                <a:solidFill>
                  <a:srgbClr val="C00000"/>
                </a:solidFill>
                <a:latin typeface="Arial"/>
                <a:ea typeface="DejaVu Sans"/>
              </a:rPr>
              <a:t>Sref</a:t>
            </a:r>
            <a:r>
              <a:rPr lang="en-US" sz="1400" i="1" spc="-1" dirty="0">
                <a:solidFill>
                  <a:srgbClr val="C00000"/>
                </a:solidFill>
                <a:latin typeface="Arial"/>
                <a:ea typeface="DejaVu Sans"/>
              </a:rPr>
              <a:t> is entropy of reference</a:t>
            </a:r>
            <a:br>
              <a:rPr lang="en-US" sz="1400" i="1" spc="-1" dirty="0">
                <a:solidFill>
                  <a:srgbClr val="C00000"/>
                </a:solidFill>
                <a:latin typeface="Arial"/>
                <a:ea typeface="DejaVu Sans"/>
              </a:rPr>
            </a:br>
            <a:r>
              <a:rPr lang="en-US" sz="1400" i="1" spc="-1" dirty="0" err="1">
                <a:solidFill>
                  <a:srgbClr val="C00000"/>
                </a:solidFill>
                <a:latin typeface="Arial"/>
                <a:ea typeface="DejaVu Sans"/>
              </a:rPr>
              <a:t>Sx</a:t>
            </a:r>
            <a:r>
              <a:rPr lang="en-US" sz="1400" i="1" spc="-1" dirty="0">
                <a:solidFill>
                  <a:srgbClr val="C00000"/>
                </a:solidFill>
                <a:latin typeface="Arial"/>
                <a:ea typeface="DejaVu Sans"/>
              </a:rPr>
              <a:t> is the entropy at tentative temperature x</a:t>
            </a:r>
            <a:endParaRPr lang="en-GB" sz="1400" i="1" dirty="0"/>
          </a:p>
        </p:txBody>
      </p:sp>
    </p:spTree>
    <p:extLst>
      <p:ext uri="{BB962C8B-B14F-4D97-AF65-F5344CB8AC3E}">
        <p14:creationId xmlns:p14="http://schemas.microsoft.com/office/powerpoint/2010/main" val="3873493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</a:t>
            </a:r>
            <a:r>
              <a:rPr lang="en-US" sz="2000" b="1" spc="-1" dirty="0">
                <a:solidFill>
                  <a:srgbClr val="000000"/>
                </a:solidFill>
                <a:latin typeface="Bookman Old Style"/>
                <a:ea typeface="DejaVu Sans"/>
              </a:rPr>
              <a:t>isentropic path: definition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7" name="CustomShape 3">
            <a:extLst>
              <a:ext uri="{FF2B5EF4-FFF2-40B4-BE49-F238E27FC236}">
                <a16:creationId xmlns:a16="http://schemas.microsoft.com/office/drawing/2014/main" id="{08FF5081-8DE1-7463-8DB2-5C024DD767BD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18</a:t>
            </a:fld>
            <a:endParaRPr lang="en-US" sz="12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CE7268-B82E-6B3B-51E8-61FF56FB39FD}"/>
              </a:ext>
            </a:extLst>
          </p:cNvPr>
          <p:cNvSpPr txBox="1"/>
          <p:nvPr/>
        </p:nvSpPr>
        <p:spPr>
          <a:xfrm>
            <a:off x="3604348" y="595323"/>
            <a:ext cx="5436158" cy="42473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MAGEMin_C</a:t>
            </a:r>
          </a:p>
          <a:p>
            <a:r>
              <a:rPr lang="en-GB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Plots</a:t>
            </a:r>
          </a:p>
          <a:p>
            <a:r>
              <a:rPr lang="en-GB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ProgressMeter</a:t>
            </a:r>
            <a:endParaRPr lang="en-GB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dtb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ig</a:t>
            </a:r>
            <a:r>
              <a:rPr lang="en-GB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GB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   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Initialize_MAGEMin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dtb,verbose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=-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test   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lang="en-GB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KLB-1</a:t>
            </a:r>
            <a:endParaRPr lang="en-GB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   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use_predefined_bulk_rock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(data, test)</a:t>
            </a:r>
          </a:p>
          <a:p>
            <a:b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MPT    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1350.0</a:t>
            </a:r>
          </a:p>
          <a:p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adiabat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0.55</a:t>
            </a:r>
            <a:endParaRPr lang="en-GB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Depth  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100.0</a:t>
            </a:r>
            <a:endParaRPr lang="en-GB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rho_Mantle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3300.0</a:t>
            </a:r>
            <a:endParaRPr lang="en-GB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Ts     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MPT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adiabat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Depth </a:t>
            </a:r>
          </a:p>
          <a:p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Ps     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Depth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1e3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9.81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rho_Mantle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1e5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1e3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Pe     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0.001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                                            </a:t>
            </a:r>
          </a:p>
          <a:p>
            <a:r>
              <a:rPr lang="en-GB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endParaRPr lang="en-GB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n_max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endParaRPr lang="en-GB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tolerance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en-GB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      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(Ps, stop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Pe, length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    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GB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MAGEMin_C.gmin_struct</a:t>
            </a:r>
            <a:r>
              <a:rPr lang="en-GB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{Float64, Int64}}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undef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GB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out_tmp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MAGEMin_C</a:t>
            </a:r>
            <a:r>
              <a:rPr lang="en-GB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gmin_struct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{Float64, Int64};</a:t>
            </a:r>
          </a:p>
          <a:p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out[</a:t>
            </a:r>
            <a:r>
              <a:rPr lang="en-GB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     </a:t>
            </a:r>
            <a:r>
              <a:rPr lang="en-GB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deepcopy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GB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single_point_minimization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Ps,Ts</a:t>
            </a:r>
            <a:r>
              <a:rPr lang="en-GB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data));</a:t>
            </a:r>
          </a:p>
          <a:p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Sref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out[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entropy</a:t>
            </a:r>
            <a:endParaRPr lang="en-GB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CustomShape 4">
            <a:extLst>
              <a:ext uri="{FF2B5EF4-FFF2-40B4-BE49-F238E27FC236}">
                <a16:creationId xmlns:a16="http://schemas.microsoft.com/office/drawing/2014/main" id="{ED9C064B-D33B-448C-1A22-7E4A4E517991}"/>
              </a:ext>
            </a:extLst>
          </p:cNvPr>
          <p:cNvSpPr/>
          <p:nvPr/>
        </p:nvSpPr>
        <p:spPr>
          <a:xfrm>
            <a:off x="242696" y="980334"/>
            <a:ext cx="2748011" cy="26085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200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47404B-7F62-793B-61F0-7EA2A78323FE}"/>
              </a:ext>
            </a:extLst>
          </p:cNvPr>
          <p:cNvSpPr txBox="1"/>
          <p:nvPr/>
        </p:nvSpPr>
        <p:spPr>
          <a:xfrm>
            <a:off x="73562" y="918990"/>
            <a:ext cx="3501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pc="-1" dirty="0" err="1">
                <a:solidFill>
                  <a:srgbClr val="C00000"/>
                </a:solidFill>
                <a:latin typeface="Arial"/>
                <a:ea typeface="DejaVu Sans"/>
              </a:rPr>
              <a:t>ProgressMeter</a:t>
            </a:r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 to display a progress bar</a:t>
            </a:r>
          </a:p>
          <a:p>
            <a:endParaRPr lang="en-US" sz="10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Igneous database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Initialize MAGEMin while deactivating verbose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Select predefined KLB-1 test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Load predefined test</a:t>
            </a:r>
            <a:endParaRPr lang="en-GB" sz="1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4DE523-431C-F6B6-D684-21243E739898}"/>
              </a:ext>
            </a:extLst>
          </p:cNvPr>
          <p:cNvCxnSpPr>
            <a:cxnSpLocks/>
          </p:cNvCxnSpPr>
          <p:nvPr/>
        </p:nvCxnSpPr>
        <p:spPr>
          <a:xfrm>
            <a:off x="2543820" y="1048977"/>
            <a:ext cx="10312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6D016B-2BD4-D008-E4F1-698F51B3AF24}"/>
              </a:ext>
            </a:extLst>
          </p:cNvPr>
          <p:cNvCxnSpPr>
            <a:cxnSpLocks/>
          </p:cNvCxnSpPr>
          <p:nvPr/>
        </p:nvCxnSpPr>
        <p:spPr>
          <a:xfrm>
            <a:off x="1306286" y="1345755"/>
            <a:ext cx="2268812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C468459-9A54-B82E-98BA-42A21A5EF53F}"/>
              </a:ext>
            </a:extLst>
          </p:cNvPr>
          <p:cNvCxnSpPr>
            <a:cxnSpLocks/>
          </p:cNvCxnSpPr>
          <p:nvPr/>
        </p:nvCxnSpPr>
        <p:spPr>
          <a:xfrm>
            <a:off x="2791326" y="1490134"/>
            <a:ext cx="783772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0C30AA7-672E-B47E-F07E-57E418BD2914}"/>
              </a:ext>
            </a:extLst>
          </p:cNvPr>
          <p:cNvCxnSpPr>
            <a:cxnSpLocks/>
          </p:cNvCxnSpPr>
          <p:nvPr/>
        </p:nvCxnSpPr>
        <p:spPr>
          <a:xfrm>
            <a:off x="1824330" y="1635659"/>
            <a:ext cx="175076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460AE34-0525-8A7D-9DA4-BA6E65A97324}"/>
              </a:ext>
            </a:extLst>
          </p:cNvPr>
          <p:cNvCxnSpPr>
            <a:cxnSpLocks/>
          </p:cNvCxnSpPr>
          <p:nvPr/>
        </p:nvCxnSpPr>
        <p:spPr>
          <a:xfrm>
            <a:off x="1402538" y="1788059"/>
            <a:ext cx="217256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8CF43A8-E5A6-B6AB-A9A5-3A8C0A809FFE}"/>
              </a:ext>
            </a:extLst>
          </p:cNvPr>
          <p:cNvSpPr txBox="1"/>
          <p:nvPr/>
        </p:nvSpPr>
        <p:spPr>
          <a:xfrm>
            <a:off x="132744" y="1968921"/>
            <a:ext cx="35015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Mantle potential temperature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Adiabatic gradient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Starting depth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Mantle density</a:t>
            </a:r>
            <a:endParaRPr lang="en-GB" sz="10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E0FFFE-51F3-5A87-2ED6-759E305250F5}"/>
              </a:ext>
            </a:extLst>
          </p:cNvPr>
          <p:cNvCxnSpPr>
            <a:cxnSpLocks/>
          </p:cNvCxnSpPr>
          <p:nvPr/>
        </p:nvCxnSpPr>
        <p:spPr>
          <a:xfrm>
            <a:off x="1883512" y="2112339"/>
            <a:ext cx="1691586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F0BDF5-3D92-E24D-5721-1A08EE54527E}"/>
              </a:ext>
            </a:extLst>
          </p:cNvPr>
          <p:cNvCxnSpPr>
            <a:cxnSpLocks/>
          </p:cNvCxnSpPr>
          <p:nvPr/>
        </p:nvCxnSpPr>
        <p:spPr>
          <a:xfrm>
            <a:off x="1306286" y="2244113"/>
            <a:ext cx="2268812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84790EE-238D-C631-80FE-7897951CB99A}"/>
              </a:ext>
            </a:extLst>
          </p:cNvPr>
          <p:cNvCxnSpPr>
            <a:cxnSpLocks/>
          </p:cNvCxnSpPr>
          <p:nvPr/>
        </p:nvCxnSpPr>
        <p:spPr>
          <a:xfrm>
            <a:off x="1113780" y="2396513"/>
            <a:ext cx="245558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DD57BCF-0703-C1CF-CF17-C3E930B309D9}"/>
              </a:ext>
            </a:extLst>
          </p:cNvPr>
          <p:cNvCxnSpPr>
            <a:cxnSpLocks/>
          </p:cNvCxnSpPr>
          <p:nvPr/>
        </p:nvCxnSpPr>
        <p:spPr>
          <a:xfrm>
            <a:off x="1110456" y="2551125"/>
            <a:ext cx="245558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7A91687-14F9-E47A-E00E-4A724FBA5555}"/>
              </a:ext>
            </a:extLst>
          </p:cNvPr>
          <p:cNvSpPr txBox="1"/>
          <p:nvPr/>
        </p:nvSpPr>
        <p:spPr>
          <a:xfrm>
            <a:off x="132744" y="2728818"/>
            <a:ext cx="3501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Starting temperature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Starting pressure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Ending pressure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Number of steps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Maximum number of bisection iterations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Tolerance in K</a:t>
            </a:r>
            <a:endParaRPr lang="en-GB" sz="10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B1FA3CC-0219-97B3-9284-CFEDBA73834C}"/>
              </a:ext>
            </a:extLst>
          </p:cNvPr>
          <p:cNvCxnSpPr>
            <a:cxnSpLocks/>
          </p:cNvCxnSpPr>
          <p:nvPr/>
        </p:nvCxnSpPr>
        <p:spPr>
          <a:xfrm>
            <a:off x="1512541" y="2861654"/>
            <a:ext cx="20684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DCCE5CC-8230-299F-6F52-B570DD1FC202}"/>
              </a:ext>
            </a:extLst>
          </p:cNvPr>
          <p:cNvCxnSpPr>
            <a:cxnSpLocks/>
          </p:cNvCxnSpPr>
          <p:nvPr/>
        </p:nvCxnSpPr>
        <p:spPr>
          <a:xfrm>
            <a:off x="1313161" y="3014054"/>
            <a:ext cx="225975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C562C3B-00F2-197E-8D1C-50575864D038}"/>
              </a:ext>
            </a:extLst>
          </p:cNvPr>
          <p:cNvCxnSpPr>
            <a:cxnSpLocks/>
          </p:cNvCxnSpPr>
          <p:nvPr/>
        </p:nvCxnSpPr>
        <p:spPr>
          <a:xfrm>
            <a:off x="1230658" y="3152704"/>
            <a:ext cx="234226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11057C8-FA2B-CA0D-0FB4-B49FEA986093}"/>
              </a:ext>
            </a:extLst>
          </p:cNvPr>
          <p:cNvCxnSpPr>
            <a:cxnSpLocks/>
          </p:cNvCxnSpPr>
          <p:nvPr/>
        </p:nvCxnSpPr>
        <p:spPr>
          <a:xfrm>
            <a:off x="1230658" y="3318855"/>
            <a:ext cx="23422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704839-EEE3-305F-D98C-CE2023991969}"/>
              </a:ext>
            </a:extLst>
          </p:cNvPr>
          <p:cNvCxnSpPr>
            <a:cxnSpLocks/>
          </p:cNvCxnSpPr>
          <p:nvPr/>
        </p:nvCxnSpPr>
        <p:spPr>
          <a:xfrm>
            <a:off x="2550695" y="3464379"/>
            <a:ext cx="1022222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B6679D9-373F-15F8-4EB0-EB0C28C52667}"/>
              </a:ext>
            </a:extLst>
          </p:cNvPr>
          <p:cNvCxnSpPr>
            <a:cxnSpLocks/>
          </p:cNvCxnSpPr>
          <p:nvPr/>
        </p:nvCxnSpPr>
        <p:spPr>
          <a:xfrm>
            <a:off x="1125352" y="3630530"/>
            <a:ext cx="244068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58DBDA2-3835-9411-E3BB-D8DFB64D3589}"/>
              </a:ext>
            </a:extLst>
          </p:cNvPr>
          <p:cNvSpPr txBox="1"/>
          <p:nvPr/>
        </p:nvSpPr>
        <p:spPr>
          <a:xfrm>
            <a:off x="6400800" y="4786452"/>
            <a:ext cx="2041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cap="small" dirty="0"/>
              <a:t>This snippet can be copied</a:t>
            </a:r>
            <a:endParaRPr lang="en-GB" sz="1100" b="1" cap="small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4487C6-8073-DD74-8476-6B60633FA261}"/>
              </a:ext>
            </a:extLst>
          </p:cNvPr>
          <p:cNvSpPr txBox="1"/>
          <p:nvPr/>
        </p:nvSpPr>
        <p:spPr>
          <a:xfrm>
            <a:off x="132744" y="3792104"/>
            <a:ext cx="350153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Pressure range for the isentropic path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Output structure Vector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Temporary output structure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Compute reference point at Ts and Ps</a:t>
            </a:r>
          </a:p>
          <a:p>
            <a:r>
              <a:rPr lang="en-US" sz="1000" spc="-1" dirty="0">
                <a:solidFill>
                  <a:srgbClr val="C00000"/>
                </a:solidFill>
                <a:latin typeface="Arial"/>
                <a:ea typeface="DejaVu Sans"/>
              </a:rPr>
              <a:t>Reference entropy</a:t>
            </a:r>
            <a:endParaRPr lang="en-GB" sz="1000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C23452C-60AA-24AE-B140-0352729DCE5C}"/>
              </a:ext>
            </a:extLst>
          </p:cNvPr>
          <p:cNvCxnSpPr>
            <a:cxnSpLocks/>
          </p:cNvCxnSpPr>
          <p:nvPr/>
        </p:nvCxnSpPr>
        <p:spPr>
          <a:xfrm>
            <a:off x="2440692" y="3920433"/>
            <a:ext cx="111045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B6AC1A1-A20F-7C29-619E-E9D6C594019F}"/>
              </a:ext>
            </a:extLst>
          </p:cNvPr>
          <p:cNvCxnSpPr>
            <a:cxnSpLocks/>
          </p:cNvCxnSpPr>
          <p:nvPr/>
        </p:nvCxnSpPr>
        <p:spPr>
          <a:xfrm>
            <a:off x="1616701" y="4072833"/>
            <a:ext cx="193444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2BFE124-64C9-6816-D82D-EB9681F78C8C}"/>
              </a:ext>
            </a:extLst>
          </p:cNvPr>
          <p:cNvCxnSpPr>
            <a:cxnSpLocks/>
          </p:cNvCxnSpPr>
          <p:nvPr/>
        </p:nvCxnSpPr>
        <p:spPr>
          <a:xfrm>
            <a:off x="1824330" y="4222991"/>
            <a:ext cx="172681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7518371-9AA2-1387-14F6-D1BC45C5D5FF}"/>
              </a:ext>
            </a:extLst>
          </p:cNvPr>
          <p:cNvCxnSpPr>
            <a:cxnSpLocks/>
          </p:cNvCxnSpPr>
          <p:nvPr/>
        </p:nvCxnSpPr>
        <p:spPr>
          <a:xfrm>
            <a:off x="2440692" y="4375391"/>
            <a:ext cx="111045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66A06C1-743C-485F-9F0E-E603E9B5DE19}"/>
              </a:ext>
            </a:extLst>
          </p:cNvPr>
          <p:cNvCxnSpPr>
            <a:cxnSpLocks/>
          </p:cNvCxnSpPr>
          <p:nvPr/>
        </p:nvCxnSpPr>
        <p:spPr>
          <a:xfrm>
            <a:off x="1313161" y="4534666"/>
            <a:ext cx="223798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084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</a:t>
            </a:r>
            <a:r>
              <a:rPr lang="en-US" sz="2000" b="1" spc="-1" dirty="0">
                <a:solidFill>
                  <a:srgbClr val="000000"/>
                </a:solidFill>
                <a:latin typeface="Bookman Old Style"/>
                <a:ea typeface="DejaVu Sans"/>
              </a:rPr>
              <a:t>isentropic path: calculation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7" name="CustomShape 3">
            <a:extLst>
              <a:ext uri="{FF2B5EF4-FFF2-40B4-BE49-F238E27FC236}">
                <a16:creationId xmlns:a16="http://schemas.microsoft.com/office/drawing/2014/main" id="{08FF5081-8DE1-7463-8DB2-5C024DD767BD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19</a:t>
            </a:fld>
            <a:endParaRPr lang="en-US" sz="12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CE7268-B82E-6B3B-51E8-61FF56FB39FD}"/>
              </a:ext>
            </a:extLst>
          </p:cNvPr>
          <p:cNvSpPr txBox="1"/>
          <p:nvPr/>
        </p:nvSpPr>
        <p:spPr>
          <a:xfrm>
            <a:off x="4204502" y="519803"/>
            <a:ext cx="4838383" cy="42473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@showprogress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</a:t>
            </a: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a          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out[j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T_C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50.0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b          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out[j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T_C</a:t>
            </a: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n          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conv       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n          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GB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sign_a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GB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n_max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conv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c      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GB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GB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out_tmp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deepcopy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GB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single_point_minimization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(P[j],c, data));</a:t>
            </a: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result 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out_tmp</a:t>
            </a:r>
            <a:r>
              <a:rPr lang="en-GB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entropy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Sref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GB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sign_c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sign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(result)</a:t>
            </a:r>
          </a:p>
          <a:p>
            <a:b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GB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(b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a)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tolerance</a:t>
            </a: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conv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GB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</a:t>
            </a:r>
            <a:r>
              <a:rPr lang="en-GB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GB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sign_c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sign_a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    a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</a:t>
            </a: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    </a:t>
            </a:r>
            <a:r>
              <a:rPr lang="en-GB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sign_a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sign_c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</a:t>
            </a:r>
            <a:r>
              <a:rPr lang="en-GB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    b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</a:t>
            </a: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</a:t>
            </a:r>
            <a:r>
              <a:rPr lang="en-GB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</a:t>
            </a: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GB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end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n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GB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end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out[j] </a:t>
            </a:r>
            <a:r>
              <a:rPr lang="en-GB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deepcopy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out_tmp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end</a:t>
            </a:r>
            <a:endParaRPr lang="en-GB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Finalize_MAGEMin</a:t>
            </a:r>
            <a:r>
              <a:rPr lang="en-GB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(data)</a:t>
            </a:r>
          </a:p>
        </p:txBody>
      </p:sp>
      <p:sp>
        <p:nvSpPr>
          <p:cNvPr id="3" name="CustomShape 4">
            <a:extLst>
              <a:ext uri="{FF2B5EF4-FFF2-40B4-BE49-F238E27FC236}">
                <a16:creationId xmlns:a16="http://schemas.microsoft.com/office/drawing/2014/main" id="{ED9C064B-D33B-448C-1A22-7E4A4E517991}"/>
              </a:ext>
            </a:extLst>
          </p:cNvPr>
          <p:cNvSpPr/>
          <p:nvPr/>
        </p:nvSpPr>
        <p:spPr>
          <a:xfrm>
            <a:off x="242696" y="980334"/>
            <a:ext cx="2748011" cy="26085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200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8DBDA2-3835-9411-E3BB-D8DFB64D3589}"/>
              </a:ext>
            </a:extLst>
          </p:cNvPr>
          <p:cNvSpPr txBox="1"/>
          <p:nvPr/>
        </p:nvSpPr>
        <p:spPr>
          <a:xfrm>
            <a:off x="6400800" y="4786452"/>
            <a:ext cx="2041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cap="small" dirty="0"/>
              <a:t>This snippet can be copied</a:t>
            </a:r>
            <a:endParaRPr lang="en-GB" sz="1100" b="1" cap="small" dirty="0"/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F4F17CC9-7E10-67DD-716C-B78C9AE8761B}"/>
              </a:ext>
            </a:extLst>
          </p:cNvPr>
          <p:cNvSpPr/>
          <p:nvPr/>
        </p:nvSpPr>
        <p:spPr>
          <a:xfrm>
            <a:off x="112749" y="494393"/>
            <a:ext cx="4012363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This code snippet uses the bisection method to find the temperature fitting the entropy of reference within given tolerance</a:t>
            </a: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The command “@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showprogress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” place before the pressure loop allow to display the progress bar in the Julia terminal</a:t>
            </a: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b="1" spc="-1" dirty="0">
                <a:solidFill>
                  <a:srgbClr val="C00000"/>
                </a:solidFill>
                <a:latin typeface="Arial"/>
                <a:ea typeface="DejaVu Sans"/>
              </a:rPr>
              <a:t>a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 and </a:t>
            </a:r>
            <a:r>
              <a:rPr lang="en-US" sz="1400" b="1" spc="-1" dirty="0">
                <a:solidFill>
                  <a:srgbClr val="C00000"/>
                </a:solidFill>
                <a:latin typeface="Arial"/>
                <a:ea typeface="DejaVu Sans"/>
              </a:rPr>
              <a:t>b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 define the starting temperature bounds</a:t>
            </a:r>
            <a:b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</a:br>
            <a:r>
              <a:rPr lang="en-US" sz="1400" b="1" spc="-1" dirty="0">
                <a:solidFill>
                  <a:srgbClr val="C00000"/>
                </a:solidFill>
                <a:latin typeface="Arial"/>
                <a:ea typeface="DejaVu Sans"/>
              </a:rPr>
              <a:t>n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 is the number of bisection</a:t>
            </a:r>
            <a:b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</a:br>
            <a:r>
              <a:rPr lang="en-US" sz="1400" b="1" spc="-1" dirty="0">
                <a:solidFill>
                  <a:srgbClr val="C00000"/>
                </a:solidFill>
                <a:latin typeface="Arial"/>
                <a:ea typeface="DejaVu Sans"/>
              </a:rPr>
              <a:t>c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 is the bisected temperature</a:t>
            </a:r>
            <a:b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</a:br>
            <a:r>
              <a:rPr lang="en-US" sz="1400" b="1" spc="-1" dirty="0">
                <a:solidFill>
                  <a:srgbClr val="C00000"/>
                </a:solidFill>
                <a:latin typeface="Arial"/>
                <a:ea typeface="DejaVu Sans"/>
              </a:rPr>
              <a:t>result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 is the misfit (f(x) = 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Sref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 – 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Sx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)</a:t>
            </a:r>
            <a:b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</a:br>
            <a:r>
              <a:rPr lang="en-US" sz="1400" b="1" spc="-1" dirty="0" err="1">
                <a:solidFill>
                  <a:srgbClr val="C00000"/>
                </a:solidFill>
                <a:latin typeface="Arial"/>
                <a:ea typeface="DejaVu Sans"/>
              </a:rPr>
              <a:t>sign_c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 is the sign of the misfit a T = </a:t>
            </a:r>
            <a:r>
              <a:rPr lang="en-US" sz="1400" b="1" spc="-1" dirty="0">
                <a:solidFill>
                  <a:srgbClr val="C00000"/>
                </a:solidFill>
                <a:latin typeface="Arial"/>
                <a:ea typeface="DejaVu Sans"/>
              </a:rPr>
              <a:t>c</a:t>
            </a:r>
            <a:br>
              <a:rPr lang="en-US" sz="1400" b="1" spc="-1" dirty="0">
                <a:solidFill>
                  <a:srgbClr val="C00000"/>
                </a:solidFill>
                <a:latin typeface="Arial"/>
                <a:ea typeface="DejaVu Sans"/>
              </a:rPr>
            </a:br>
            <a:endParaRPr lang="en-US" sz="1400" b="1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8CBCC83-E5EC-61E0-1425-AF36046B6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348" y="1832746"/>
            <a:ext cx="919161" cy="17480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06F59B0-605F-B65F-FFD6-663032B3D42C}"/>
              </a:ext>
            </a:extLst>
          </p:cNvPr>
          <p:cNvSpPr/>
          <p:nvPr/>
        </p:nvSpPr>
        <p:spPr>
          <a:xfrm>
            <a:off x="4895134" y="2413191"/>
            <a:ext cx="1766923" cy="1450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8A514D5-910C-3B39-BB09-42D627B87A84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3506346" y="3138524"/>
            <a:ext cx="1388788" cy="80783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7D3574F-71C5-55C1-2BCE-64FAAFF1C728}"/>
              </a:ext>
            </a:extLst>
          </p:cNvPr>
          <p:cNvSpPr txBox="1"/>
          <p:nvPr/>
        </p:nvSpPr>
        <p:spPr>
          <a:xfrm>
            <a:off x="131819" y="3641068"/>
            <a:ext cx="38886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If the bounds distance is &lt; tolerance, then solution is accepted</a:t>
            </a:r>
            <a:b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</a:b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else, the bounds are updated</a:t>
            </a:r>
          </a:p>
        </p:txBody>
      </p:sp>
    </p:spTree>
    <p:extLst>
      <p:ext uri="{BB962C8B-B14F-4D97-AF65-F5344CB8AC3E}">
        <p14:creationId xmlns:p14="http://schemas.microsoft.com/office/powerpoint/2010/main" val="2832739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stomShape 4">
            <a:extLst>
              <a:ext uri="{FF2B5EF4-FFF2-40B4-BE49-F238E27FC236}">
                <a16:creationId xmlns:a16="http://schemas.microsoft.com/office/drawing/2014/main" id="{32BF17D3-D52F-65D1-8FDE-FECEDB5FDC98}"/>
              </a:ext>
            </a:extLst>
          </p:cNvPr>
          <p:cNvSpPr/>
          <p:nvPr/>
        </p:nvSpPr>
        <p:spPr>
          <a:xfrm>
            <a:off x="158131" y="2765590"/>
            <a:ext cx="8318976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b="1" spc="-1" dirty="0">
                <a:solidFill>
                  <a:srgbClr val="C00000"/>
                </a:solidFill>
                <a:latin typeface="Arial"/>
                <a:ea typeface="DejaVu Sans"/>
              </a:rPr>
              <a:t>In the code above, we extract and clean several information</a:t>
            </a:r>
          </a:p>
          <a:p>
            <a:pPr marL="800460" lvl="1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The entropy of all points for checking</a:t>
            </a:r>
          </a:p>
          <a:p>
            <a:pPr marL="800460" lvl="1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The fraction of stable melt in mol and we set to 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NaN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 the values equal to 0.0 (when melt is not stable) </a:t>
            </a:r>
          </a:p>
          <a:p>
            <a:pPr marL="800460" lvl="1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We retrieve the array index of SiO2 and the indices of all oxides excluding water, this for anhydrous normalization</a:t>
            </a:r>
          </a:p>
          <a:p>
            <a:pPr marL="800460" lvl="1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We compute the SiO2 content of the melt on an anhydrous basis</a:t>
            </a:r>
          </a:p>
          <a:p>
            <a:pPr marL="800460" lvl="1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We retrieve the melt density and set to </a:t>
            </a:r>
            <a:r>
              <a:rPr lang="en-US" sz="1400" spc="-1" dirty="0" err="1">
                <a:solidFill>
                  <a:srgbClr val="C00000"/>
                </a:solidFill>
                <a:latin typeface="Arial"/>
                <a:ea typeface="DejaVu Sans"/>
              </a:rPr>
              <a:t>NaN</a:t>
            </a: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 the values equal to 0.0 (when melt is not stable)</a:t>
            </a:r>
            <a:b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</a:br>
            <a:endParaRPr lang="en-US" sz="1400" spc="-1" dirty="0">
              <a:solidFill>
                <a:srgbClr val="C00000"/>
              </a:solidFill>
              <a:latin typeface="Arial"/>
              <a:ea typeface="DejaVu Sans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</a:t>
            </a:r>
            <a:r>
              <a:rPr lang="en-US" sz="2000" b="1" spc="-1" dirty="0">
                <a:solidFill>
                  <a:srgbClr val="000000"/>
                </a:solidFill>
                <a:latin typeface="Bookman Old Style"/>
                <a:ea typeface="DejaVu Sans"/>
              </a:rPr>
              <a:t>isentropic path: data extraction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112750" y="521893"/>
            <a:ext cx="8318976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Similarly to the factional crystallization example, data output need to be reformatted.</a:t>
            </a:r>
          </a:p>
        </p:txBody>
      </p:sp>
      <p:sp>
        <p:nvSpPr>
          <p:cNvPr id="17" name="CustomShape 3">
            <a:extLst>
              <a:ext uri="{FF2B5EF4-FFF2-40B4-BE49-F238E27FC236}">
                <a16:creationId xmlns:a16="http://schemas.microsoft.com/office/drawing/2014/main" id="{08FF5081-8DE1-7463-8DB2-5C024DD767BD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20</a:t>
            </a:fld>
            <a:endParaRPr lang="en-US" sz="12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A10A5-AD9A-C28E-9978-A819CFE08904}"/>
              </a:ext>
            </a:extLst>
          </p:cNvPr>
          <p:cNvSpPr txBox="1"/>
          <p:nvPr/>
        </p:nvSpPr>
        <p:spPr>
          <a:xfrm>
            <a:off x="158131" y="983175"/>
            <a:ext cx="8064594" cy="16158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      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[out[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entropy </a:t>
            </a:r>
            <a:r>
              <a:rPr lang="en-GB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n_steps]                        </a:t>
            </a: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frac_M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[out[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frac_M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n_steps] </a:t>
            </a: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frac_M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frac_M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.==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.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NaN</a:t>
            </a:r>
            <a:endParaRPr lang="en-GB" sz="1100" b="0" dirty="0">
              <a:solidFill>
                <a:srgbClr val="B5CEA8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      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[out[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T_C </a:t>
            </a:r>
            <a:r>
              <a:rPr lang="en-GB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n_steps]</a:t>
            </a:r>
            <a:b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SiO2_id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findfirst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(out[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oxides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.==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"SiO2"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dry_id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findall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(out[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oxides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.!=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"H2O"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SiO2_M_dry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 (out[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bulk_M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[SiO2_id]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(out[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bulk_M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dry_id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GB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n_steps]; </a:t>
            </a: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rho_M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 (out[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rho_M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GB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n_steps]; </a:t>
            </a:r>
          </a:p>
          <a:p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rho_M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rho_M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.==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.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100" b="0" dirty="0" err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en-GB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3EB72-9BCC-4878-2F5A-9D750C894F53}"/>
              </a:ext>
            </a:extLst>
          </p:cNvPr>
          <p:cNvSpPr txBox="1"/>
          <p:nvPr/>
        </p:nvSpPr>
        <p:spPr>
          <a:xfrm>
            <a:off x="6341669" y="2382359"/>
            <a:ext cx="2041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cap="small" dirty="0"/>
              <a:t>This snippet can be copied</a:t>
            </a:r>
            <a:endParaRPr lang="en-GB" sz="1100" b="1" cap="small" dirty="0"/>
          </a:p>
        </p:txBody>
      </p:sp>
    </p:spTree>
    <p:extLst>
      <p:ext uri="{BB962C8B-B14F-4D97-AF65-F5344CB8AC3E}">
        <p14:creationId xmlns:p14="http://schemas.microsoft.com/office/powerpoint/2010/main" val="1169808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2">
            <a:extLst>
              <a:ext uri="{FF2B5EF4-FFF2-40B4-BE49-F238E27FC236}">
                <a16:creationId xmlns:a16="http://schemas.microsoft.com/office/drawing/2014/main" id="{77B551C5-55E4-B081-4AD7-F25A48479DF4}"/>
              </a:ext>
            </a:extLst>
          </p:cNvPr>
          <p:cNvSpPr/>
          <p:nvPr/>
        </p:nvSpPr>
        <p:spPr>
          <a:xfrm>
            <a:off x="0" y="0"/>
            <a:ext cx="9143280" cy="45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MAGEMin_C, </a:t>
            </a:r>
            <a:r>
              <a:rPr lang="en-US" sz="2000" b="1" spc="-1" dirty="0">
                <a:solidFill>
                  <a:srgbClr val="000000"/>
                </a:solidFill>
                <a:latin typeface="Bookman Old Style"/>
                <a:ea typeface="DejaVu Sans"/>
              </a:rPr>
              <a:t>isentropic path: visualization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FD32029E-4BCB-671E-07CD-7BDA3C0A1D36}"/>
              </a:ext>
            </a:extLst>
          </p:cNvPr>
          <p:cNvSpPr/>
          <p:nvPr/>
        </p:nvSpPr>
        <p:spPr>
          <a:xfrm>
            <a:off x="112750" y="494393"/>
            <a:ext cx="8318976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Visualization is achieved in a similar way as for the fractional crystallization example</a:t>
            </a:r>
          </a:p>
        </p:txBody>
      </p:sp>
      <p:sp>
        <p:nvSpPr>
          <p:cNvPr id="17" name="CustomShape 3">
            <a:extLst>
              <a:ext uri="{FF2B5EF4-FFF2-40B4-BE49-F238E27FC236}">
                <a16:creationId xmlns:a16="http://schemas.microsoft.com/office/drawing/2014/main" id="{08FF5081-8DE1-7463-8DB2-5C024DD767BD}"/>
              </a:ext>
            </a:extLst>
          </p:cNvPr>
          <p:cNvSpPr/>
          <p:nvPr/>
        </p:nvSpPr>
        <p:spPr>
          <a:xfrm>
            <a:off x="6553080" y="4767120"/>
            <a:ext cx="21322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E79B755-5894-4F64-8CEA-3421407AB0EB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21</a:t>
            </a:fld>
            <a:endParaRPr lang="en-US" sz="12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A10A5-AD9A-C28E-9978-A819CFE08904}"/>
              </a:ext>
            </a:extLst>
          </p:cNvPr>
          <p:cNvSpPr txBox="1"/>
          <p:nvPr/>
        </p:nvSpPr>
        <p:spPr>
          <a:xfrm>
            <a:off x="171881" y="863653"/>
            <a:ext cx="8731488" cy="9541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p1         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(T,P,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"Temperature (°C)"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marker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:circle,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markersize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"Pressure (kbar)"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legend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p2         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frac_M,P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"Melt fraction (mol)"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marker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:circle,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markersize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"Pressure (kbar)"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legend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p3         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rho_M,P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"Melt density (kg/m³)"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marker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:circle,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markersize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"Pressure (kbar)"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       legend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p4         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(SiO2_M_dry,P,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SiO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₂ melt anhydrous (mol%)"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marker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:circle,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markersize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"Pressure (kbar)"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 legend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fig 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(p1, p2, p3, p4, layout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size</a:t>
            </a:r>
            <a:r>
              <a:rPr lang="en-GB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800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GB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savefig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fig,</a:t>
            </a:r>
            <a:r>
              <a:rPr lang="en-GB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"isentropic_path.png</a:t>
            </a:r>
            <a:r>
              <a:rPr lang="en-GB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3EB72-9BCC-4878-2F5A-9D750C894F53}"/>
              </a:ext>
            </a:extLst>
          </p:cNvPr>
          <p:cNvSpPr txBox="1"/>
          <p:nvPr/>
        </p:nvSpPr>
        <p:spPr>
          <a:xfrm>
            <a:off x="7022312" y="1829616"/>
            <a:ext cx="2041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cap="small" dirty="0"/>
              <a:t>This snippet can be copied</a:t>
            </a:r>
            <a:endParaRPr lang="en-GB" sz="1100" b="1" cap="small" dirty="0"/>
          </a:p>
        </p:txBody>
      </p:sp>
      <p:sp>
        <p:nvSpPr>
          <p:cNvPr id="11" name="CustomShape 4">
            <a:extLst>
              <a:ext uri="{FF2B5EF4-FFF2-40B4-BE49-F238E27FC236}">
                <a16:creationId xmlns:a16="http://schemas.microsoft.com/office/drawing/2014/main" id="{067E6EEB-9749-8DB4-AB67-28658CAD807C}"/>
              </a:ext>
            </a:extLst>
          </p:cNvPr>
          <p:cNvSpPr/>
          <p:nvPr/>
        </p:nvSpPr>
        <p:spPr>
          <a:xfrm>
            <a:off x="171881" y="2220139"/>
            <a:ext cx="1691295" cy="351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C00000"/>
              </a:buClr>
              <a:buFont typeface="Arial"/>
              <a:buChar char="•"/>
            </a:pPr>
            <a:r>
              <a:rPr lang="en-US" sz="1400" spc="-1" dirty="0">
                <a:solidFill>
                  <a:srgbClr val="C00000"/>
                </a:solidFill>
                <a:latin typeface="Arial"/>
                <a:ea typeface="DejaVu Sans"/>
              </a:rPr>
              <a:t>Which yields</a:t>
            </a:r>
          </a:p>
        </p:txBody>
      </p:sp>
      <p:pic>
        <p:nvPicPr>
          <p:cNvPr id="4" name="Picture 3" descr="A graph of different types of temperature&#10;&#10;Description automatically generated">
            <a:extLst>
              <a:ext uri="{FF2B5EF4-FFF2-40B4-BE49-F238E27FC236}">
                <a16:creationId xmlns:a16="http://schemas.microsoft.com/office/drawing/2014/main" id="{8E8BB0D8-6CAD-A9E8-647D-012F5C6F0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447" y="1926814"/>
            <a:ext cx="4214605" cy="316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21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12372</TotalTime>
  <Words>3729</Words>
  <Application>Microsoft Macintosh PowerPoint</Application>
  <PresentationFormat>On-screen Show (16:9)</PresentationFormat>
  <Paragraphs>375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Bookman Old Style</vt:lpstr>
      <vt:lpstr>Calibri</vt:lpstr>
      <vt:lpstr>Consolas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subject/>
  <dc:creator>Utilisateur Windows</dc:creator>
  <dc:description/>
  <cp:lastModifiedBy>Riel, Dr. Nicolas</cp:lastModifiedBy>
  <cp:revision>1010</cp:revision>
  <cp:lastPrinted>2022-08-28T08:42:27Z</cp:lastPrinted>
  <dcterms:created xsi:type="dcterms:W3CDTF">2021-03-04T07:53:29Z</dcterms:created>
  <dcterms:modified xsi:type="dcterms:W3CDTF">2025-05-19T07:58:37Z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</vt:i4>
  </property>
</Properties>
</file>