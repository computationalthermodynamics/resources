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7" r:id="rId2"/>
  </p:sldMasterIdLst>
  <p:notesMasterIdLst>
    <p:notesMasterId r:id="rId21"/>
  </p:notesMasterIdLst>
  <p:handoutMasterIdLst>
    <p:handoutMasterId r:id="rId22"/>
  </p:handoutMasterIdLst>
  <p:sldIdLst>
    <p:sldId id="336" r:id="rId3"/>
    <p:sldId id="335" r:id="rId4"/>
    <p:sldId id="316" r:id="rId5"/>
    <p:sldId id="317" r:id="rId6"/>
    <p:sldId id="319" r:id="rId7"/>
    <p:sldId id="322" r:id="rId8"/>
    <p:sldId id="323" r:id="rId9"/>
    <p:sldId id="321" r:id="rId10"/>
    <p:sldId id="324" r:id="rId11"/>
    <p:sldId id="320" r:id="rId12"/>
    <p:sldId id="325" r:id="rId13"/>
    <p:sldId id="327" r:id="rId14"/>
    <p:sldId id="326" r:id="rId15"/>
    <p:sldId id="328" r:id="rId16"/>
    <p:sldId id="331" r:id="rId17"/>
    <p:sldId id="332" r:id="rId18"/>
    <p:sldId id="333" r:id="rId19"/>
    <p:sldId id="334" r:id="rId2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39" d="100"/>
          <a:sy n="139" d="100"/>
        </p:scale>
        <p:origin x="17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30DE4B-7796-2CB6-8B6C-E63FAE2108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439A68-628B-87AF-6A7F-12CE4B6406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83790-C0EA-429F-A98A-059A7EF77CE4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C905F9-8C7D-6C4C-7412-9D93BBBD858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F2FB4-767B-025D-1CDB-B24C8774A9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E083C-6557-49B1-8576-0C2B6E8906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9456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fr-FR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6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6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6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6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2A29EBF1-02FF-48DC-9A03-0E96E1D27DBE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0986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920"/>
            <a:ext cx="8229240" cy="3972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26496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200240"/>
            <a:ext cx="26496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200240"/>
            <a:ext cx="26496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2973240"/>
            <a:ext cx="26496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2973240"/>
            <a:ext cx="26496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2973240"/>
            <a:ext cx="26496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457200" y="205920"/>
            <a:ext cx="8229240" cy="3972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26496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3239640" y="1200240"/>
            <a:ext cx="26496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>
          <a:xfrm>
            <a:off x="6022080" y="1200240"/>
            <a:ext cx="26496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body"/>
          </p:nvPr>
        </p:nvSpPr>
        <p:spPr>
          <a:xfrm>
            <a:off x="457200" y="2973240"/>
            <a:ext cx="26496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 type="body"/>
          </p:nvPr>
        </p:nvSpPr>
        <p:spPr>
          <a:xfrm>
            <a:off x="3239640" y="2973240"/>
            <a:ext cx="26496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 type="body"/>
          </p:nvPr>
        </p:nvSpPr>
        <p:spPr>
          <a:xfrm>
            <a:off x="6022080" y="2973240"/>
            <a:ext cx="2649600" cy="1618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2603-24D5-4144-9B35-DE20C615F554}" type="datetime1">
              <a:rPr lang="fr-FR" smtClean="0"/>
              <a:pPr/>
              <a:t>07/04/2025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BD05-6E0D-442A-8B60-C4DD93148A32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18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4400" b="0" strike="noStrike" spc="-1">
                <a:solidFill>
                  <a:srgbClr val="000000"/>
                </a:solidFill>
                <a:latin typeface="Calibri"/>
              </a:rPr>
              <a:t>Cliquez pour modifier le style du titre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A60B7479-7643-4EC1-8EAA-9FE614A8C029}" type="datetime1">
              <a:rPr lang="en-US" sz="1200" b="0" strike="noStrike" spc="-1">
                <a:solidFill>
                  <a:srgbClr val="8B8B8B"/>
                </a:solidFill>
                <a:latin typeface="Calibri"/>
              </a:rPr>
              <a:t>4/7/25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A2109DE1-12D5-4FF1-A50B-DE1DD3001004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4400" b="0" strike="noStrike" spc="-1">
                <a:solidFill>
                  <a:srgbClr val="000000"/>
                </a:solidFill>
                <a:latin typeface="Calibri"/>
              </a:rPr>
              <a:t>Cliquez pour modifier le style du titre</a:t>
            </a: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fr-FR" sz="3200" b="0" strike="noStrike" spc="-1">
                <a:solidFill>
                  <a:srgbClr val="000000"/>
                </a:solidFill>
                <a:latin typeface="Calibri"/>
              </a:rPr>
              <a:t>Cliquez pour modifier les styles du texte du masque</a:t>
            </a: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fr-FR" sz="2800" b="0" strike="noStrike" spc="-1">
                <a:solidFill>
                  <a:srgbClr val="000000"/>
                </a:solidFill>
                <a:latin typeface="Calibri"/>
              </a:rPr>
              <a:t>Deuxième niveau</a:t>
            </a: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000000"/>
                </a:solidFill>
                <a:latin typeface="Calibri"/>
              </a:rPr>
              <a:t>Troisième niveau</a:t>
            </a: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fr-FR" sz="2000" b="0" strike="noStrike" spc="-1">
                <a:solidFill>
                  <a:srgbClr val="000000"/>
                </a:solidFill>
                <a:latin typeface="Calibri"/>
              </a:rPr>
              <a:t>Quatrième niveau</a:t>
            </a: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fr-FR" sz="2000" b="0" strike="noStrike" spc="-1">
                <a:solidFill>
                  <a:srgbClr val="000000"/>
                </a:solidFill>
                <a:latin typeface="Calibri"/>
              </a:rPr>
              <a:t>Cinquième niveau</a:t>
            </a:r>
          </a:p>
        </p:txBody>
      </p:sp>
      <p:sp>
        <p:nvSpPr>
          <p:cNvPr id="125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143B2BEA-F48B-4F10-8309-7291FD0A8DA2}" type="datetime1">
              <a:rPr lang="en-US" sz="1200" b="0" strike="noStrike" spc="-1">
                <a:solidFill>
                  <a:srgbClr val="8B8B8B"/>
                </a:solidFill>
                <a:latin typeface="Calibri"/>
              </a:rPr>
              <a:t>4/7/25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CD07A08F-4F86-484B-BE66-C8D17221A7BC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omputationalthermodynamics.github.io/MAGEMin_C.jl/dev/" TargetMode="Externa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7.png"/><Relationship Id="rId4" Type="http://schemas.openxmlformats.org/officeDocument/2006/relationships/image" Target="../media/image3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ropped-MSG-logo_square-01">
            <a:extLst>
              <a:ext uri="{FF2B5EF4-FFF2-40B4-BE49-F238E27FC236}">
                <a16:creationId xmlns:a16="http://schemas.microsoft.com/office/drawing/2014/main" id="{2BE8FF8A-DB2D-3EE9-CC40-EAC8E1F7E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400" y="182160"/>
            <a:ext cx="1309736" cy="1458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CustomShape 1"/>
          <p:cNvSpPr/>
          <p:nvPr/>
        </p:nvSpPr>
        <p:spPr>
          <a:xfrm>
            <a:off x="0" y="0"/>
            <a:ext cx="9143280" cy="36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Bookman Old Style"/>
                <a:ea typeface="DejaVu Sans"/>
              </a:rPr>
              <a:t>MAGEMinApp: </a:t>
            </a:r>
            <a:r>
              <a:rPr lang="en-US" b="1" spc="-1" dirty="0">
                <a:solidFill>
                  <a:srgbClr val="000000"/>
                </a:solidFill>
                <a:latin typeface="Bookman Old Style"/>
                <a:ea typeface="DejaVu Sans"/>
              </a:rPr>
              <a:t>introduction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45" name="Picture 3"/>
          <p:cNvPicPr/>
          <p:nvPr/>
        </p:nvPicPr>
        <p:blipFill>
          <a:blip r:embed="rId3"/>
          <a:stretch/>
        </p:blipFill>
        <p:spPr>
          <a:xfrm>
            <a:off x="2430000" y="1076758"/>
            <a:ext cx="4618080" cy="3512160"/>
          </a:xfrm>
          <a:prstGeom prst="rect">
            <a:avLst/>
          </a:prstGeom>
          <a:ln>
            <a:noFill/>
          </a:ln>
        </p:spPr>
      </p:pic>
      <p:pic>
        <p:nvPicPr>
          <p:cNvPr id="47" name="Picture 4"/>
          <p:cNvPicPr/>
          <p:nvPr/>
        </p:nvPicPr>
        <p:blipFill>
          <a:blip r:embed="rId4"/>
          <a:stretch/>
        </p:blipFill>
        <p:spPr>
          <a:xfrm>
            <a:off x="214864" y="429596"/>
            <a:ext cx="1544878" cy="581885"/>
          </a:xfrm>
          <a:prstGeom prst="rect">
            <a:avLst/>
          </a:prstGeom>
          <a:ln>
            <a:noFill/>
          </a:ln>
        </p:spPr>
      </p:pic>
      <p:sp>
        <p:nvSpPr>
          <p:cNvPr id="48" name="CustomShape 2"/>
          <p:cNvSpPr/>
          <p:nvPr/>
        </p:nvSpPr>
        <p:spPr>
          <a:xfrm>
            <a:off x="6553080" y="4767120"/>
            <a:ext cx="2132640" cy="27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3DAF4CBA-E61F-41D7-9286-FA0C1EA1E1E2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DB91CE-FC02-E70A-340B-85C2ECDF884F}"/>
              </a:ext>
            </a:extLst>
          </p:cNvPr>
          <p:cNvSpPr/>
          <p:nvPr/>
        </p:nvSpPr>
        <p:spPr>
          <a:xfrm>
            <a:off x="191521" y="1254428"/>
            <a:ext cx="1904399" cy="202395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10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MAGEMinApp</a:t>
            </a:r>
            <a:r>
              <a:rPr lang="en-GB" sz="10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main contributors</a:t>
            </a:r>
            <a:br>
              <a:rPr lang="en-GB" sz="10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B. Kaus</a:t>
            </a:r>
            <a:b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H. </a:t>
            </a:r>
            <a:r>
              <a:rPr lang="en-GB" sz="1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Ranocha</a:t>
            </a:r>
            <a: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b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J-F. </a:t>
            </a:r>
            <a:r>
              <a:rPr lang="en-GB" sz="1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Moyen</a:t>
            </a:r>
            <a: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H. Dominguez</a:t>
            </a:r>
            <a:b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P. </a:t>
            </a:r>
            <a:r>
              <a:rPr lang="en-GB" sz="1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Lanari</a:t>
            </a:r>
            <a:b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J. Forshaw </a:t>
            </a:r>
            <a:b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T. Holland</a:t>
            </a:r>
            <a:br>
              <a:rPr lang="en-GB" sz="1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S. Schorn</a:t>
            </a:r>
            <a:endParaRPr lang="en-GB" sz="10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83821" y="943457"/>
            <a:ext cx="62048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/>
            <a:r>
              <a:rPr lang="en-GB" sz="1600" dirty="0">
                <a:latin typeface="Calibri (Body)"/>
                <a:cs typeface="Times New Roman" pitchFamily="18" charset="0"/>
                <a:hlinkClick r:id="rId2"/>
              </a:rPr>
              <a:t>https://computationalthermodynamics.github.io/MAGEMin_C.jl/dev/</a:t>
            </a:r>
            <a:endParaRPr lang="en-GB" sz="1600" dirty="0">
              <a:latin typeface="Calibri (Body)"/>
              <a:cs typeface="Times New Roman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BD05-6E0D-442A-8B60-C4DD93148A32}" type="slidenum">
              <a:rPr lang="fr-FR" smtClean="0"/>
              <a:pPr/>
              <a:t>2</a:t>
            </a:fld>
            <a:endParaRPr lang="fr-FR"/>
          </a:p>
        </p:txBody>
      </p:sp>
      <p:pic>
        <p:nvPicPr>
          <p:cNvPr id="2052" name="Picture 4" descr="GitHub Logo - Logo, zeichen, emblem, symbol. Geschichte und Bedeutu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17" y="847541"/>
            <a:ext cx="753896" cy="42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96235E7-AAE2-FF4B-6A74-96E3CA2FC9BA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 </a:t>
            </a:r>
            <a:r>
              <a:rPr lang="en-US" b="1" dirty="0" err="1">
                <a:latin typeface="Bookman Old Style" panose="02050604050505020204" pitchFamily="18" charset="0"/>
              </a:rPr>
              <a:t>github</a:t>
            </a:r>
            <a:r>
              <a:rPr lang="en-US" b="1" dirty="0">
                <a:latin typeface="Bookman Old Style" panose="02050604050505020204" pitchFamily="18" charset="0"/>
              </a:rPr>
              <a:t>: </a:t>
            </a:r>
            <a:r>
              <a:rPr lang="en-GB" sz="1800" b="1" dirty="0" err="1">
                <a:latin typeface="Bookman Old Style" panose="02050604050505020204" pitchFamily="18" charset="0"/>
                <a:cs typeface="Times New Roman" pitchFamily="18" charset="0"/>
              </a:rPr>
              <a:t>ComputationalThermodynamics</a:t>
            </a: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4" name="TextShape 10">
            <a:extLst>
              <a:ext uri="{FF2B5EF4-FFF2-40B4-BE49-F238E27FC236}">
                <a16:creationId xmlns:a16="http://schemas.microsoft.com/office/drawing/2014/main" id="{6EE77D84-3C15-C9D6-0E3A-43B9B8E504C4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CFD5D0-2633-9332-3049-E198C43F5FA0}"/>
              </a:ext>
            </a:extLst>
          </p:cNvPr>
          <p:cNvSpPr txBox="1"/>
          <p:nvPr/>
        </p:nvSpPr>
        <p:spPr>
          <a:xfrm>
            <a:off x="262581" y="473848"/>
            <a:ext cx="74651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First, access the online documentation:</a:t>
            </a:r>
            <a:endParaRPr lang="en-GB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D5922-3A4E-84A5-5254-C87284130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99" y="1443843"/>
            <a:ext cx="5617237" cy="35546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8488C5-4699-63CE-F4A1-8CC14B534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223" y="1112734"/>
            <a:ext cx="1194171" cy="390229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BD6DC2-C1DD-A372-0352-38A7AA7F42E3}"/>
              </a:ext>
            </a:extLst>
          </p:cNvPr>
          <p:cNvCxnSpPr>
            <a:cxnSpLocks/>
          </p:cNvCxnSpPr>
          <p:nvPr/>
        </p:nvCxnSpPr>
        <p:spPr>
          <a:xfrm>
            <a:off x="6313336" y="3187557"/>
            <a:ext cx="76888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499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CB96A32-B49C-40EB-51A5-2C2568205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892" y="1125137"/>
            <a:ext cx="3265441" cy="23255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314" name="AutoShape 2" descr="http://unice.fr/++theme++ThemeUNS/assets/img/logo.png"/>
          <p:cNvSpPr>
            <a:spLocks noChangeAspect="1" noChangeArrowheads="1"/>
          </p:cNvSpPr>
          <p:nvPr/>
        </p:nvSpPr>
        <p:spPr bwMode="auto">
          <a:xfrm>
            <a:off x="1259681" y="-447675"/>
            <a:ext cx="228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sz="1350">
              <a:latin typeface="Calibri" pitchFamily="34" charset="0"/>
            </a:endParaRPr>
          </a:p>
        </p:txBody>
      </p:sp>
      <p:sp>
        <p:nvSpPr>
          <p:cNvPr id="13315" name="AutoShape 4" descr="http://unice.fr/++theme++ThemeUNS/assets/img/logo.png"/>
          <p:cNvSpPr>
            <a:spLocks noChangeAspect="1" noChangeArrowheads="1"/>
          </p:cNvSpPr>
          <p:nvPr/>
        </p:nvSpPr>
        <p:spPr bwMode="auto">
          <a:xfrm>
            <a:off x="1259681" y="-447675"/>
            <a:ext cx="228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sz="1350">
              <a:latin typeface="Calibri" pitchFamily="34" charset="0"/>
            </a:endParaRPr>
          </a:p>
        </p:txBody>
      </p:sp>
      <p:sp>
        <p:nvSpPr>
          <p:cNvPr id="13316" name="AutoShape 6" descr="http://unice.fr/++theme++ThemeUNS/assets/img/logo.png"/>
          <p:cNvSpPr>
            <a:spLocks noChangeAspect="1" noChangeArrowheads="1"/>
          </p:cNvSpPr>
          <p:nvPr/>
        </p:nvSpPr>
        <p:spPr bwMode="auto">
          <a:xfrm>
            <a:off x="1259681" y="-447675"/>
            <a:ext cx="228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sz="1350">
              <a:latin typeface="Calibri" pitchFamily="34" charset="0"/>
            </a:endParaRPr>
          </a:p>
        </p:txBody>
      </p:sp>
      <p:sp>
        <p:nvSpPr>
          <p:cNvPr id="13317" name="AutoShape 8" descr="http://unice.fr/++theme++ThemeUNS/assets/img/logo.png"/>
          <p:cNvSpPr>
            <a:spLocks noChangeAspect="1" noChangeArrowheads="1"/>
          </p:cNvSpPr>
          <p:nvPr/>
        </p:nvSpPr>
        <p:spPr bwMode="auto">
          <a:xfrm>
            <a:off x="1259681" y="-447675"/>
            <a:ext cx="228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sz="1350">
              <a:latin typeface="Calibri" pitchFamily="34" charset="0"/>
            </a:endParaRPr>
          </a:p>
        </p:txBody>
      </p:sp>
      <p:sp>
        <p:nvSpPr>
          <p:cNvPr id="13318" name="AutoShape 10" descr="http://unice.fr/++theme++ThemeUNS/assets/img/logo.png"/>
          <p:cNvSpPr>
            <a:spLocks noChangeAspect="1" noChangeArrowheads="1"/>
          </p:cNvSpPr>
          <p:nvPr/>
        </p:nvSpPr>
        <p:spPr bwMode="auto">
          <a:xfrm>
            <a:off x="1259681" y="-447675"/>
            <a:ext cx="228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sz="1350">
              <a:latin typeface="Calibri" pitchFamily="34" charset="0"/>
            </a:endParaRPr>
          </a:p>
        </p:txBody>
      </p:sp>
      <p:sp>
        <p:nvSpPr>
          <p:cNvPr id="13319" name="AutoShape 12" descr="Résultat de recherche d'images pour &quot;université de nice sophia antipolis&quot;"/>
          <p:cNvSpPr>
            <a:spLocks noChangeAspect="1" noChangeArrowheads="1"/>
          </p:cNvSpPr>
          <p:nvPr/>
        </p:nvSpPr>
        <p:spPr bwMode="auto">
          <a:xfrm>
            <a:off x="1259681" y="-888206"/>
            <a:ext cx="17716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sz="1350">
              <a:latin typeface="Calibri" pitchFamily="34" charset="0"/>
            </a:endParaRPr>
          </a:p>
        </p:txBody>
      </p:sp>
      <p:sp>
        <p:nvSpPr>
          <p:cNvPr id="13320" name="AutoShape 14" descr="Résultat de recherche d'images pour &quot;université de nice sophia antipolis&quot;"/>
          <p:cNvSpPr>
            <a:spLocks noChangeAspect="1" noChangeArrowheads="1"/>
          </p:cNvSpPr>
          <p:nvPr/>
        </p:nvSpPr>
        <p:spPr bwMode="auto">
          <a:xfrm>
            <a:off x="1259681" y="-888206"/>
            <a:ext cx="17716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sz="1350">
              <a:latin typeface="Calibri" pitchFamily="34" charset="0"/>
            </a:endParaRPr>
          </a:p>
        </p:txBody>
      </p:sp>
      <p:sp>
        <p:nvSpPr>
          <p:cNvPr id="13322" name="AutoShape 7" descr="Résultat de recherche d'images pour &quot;recycle sign&quot;"/>
          <p:cNvSpPr>
            <a:spLocks noChangeAspect="1" noChangeArrowheads="1"/>
          </p:cNvSpPr>
          <p:nvPr/>
        </p:nvSpPr>
        <p:spPr bwMode="auto">
          <a:xfrm>
            <a:off x="1259681" y="-685800"/>
            <a:ext cx="14287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fr-FR" sz="1350">
              <a:latin typeface="Calibri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MAGEMinApp: launching the App in parallel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20" name="Espace réservé du numéro de diapositive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BD05-6E0D-442A-8B60-C4DD93148A32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946135-2AFB-2117-B424-5709836B282D}"/>
              </a:ext>
            </a:extLst>
          </p:cNvPr>
          <p:cNvSpPr txBox="1"/>
          <p:nvPr/>
        </p:nvSpPr>
        <p:spPr>
          <a:xfrm>
            <a:off x="240631" y="661802"/>
            <a:ext cx="335404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b="1" cap="small" dirty="0">
                <a:solidFill>
                  <a:srgbClr val="00B050"/>
                </a:solidFill>
                <a:latin typeface="+mj-lt"/>
              </a:rPr>
              <a:t>Visual Studio Code / Terminal</a:t>
            </a:r>
            <a:br>
              <a:rPr lang="en-US" sz="1350" b="1" cap="small" dirty="0">
                <a:solidFill>
                  <a:srgbClr val="00B050"/>
                </a:solidFill>
                <a:latin typeface="+mj-lt"/>
              </a:rPr>
            </a:br>
            <a:r>
              <a:rPr lang="en-US" sz="1350" cap="small" dirty="0">
                <a:solidFill>
                  <a:srgbClr val="00B050"/>
                </a:solidFill>
                <a:latin typeface="+mj-lt"/>
              </a:rPr>
              <a:t>Mac, Linux</a:t>
            </a:r>
            <a:endParaRPr lang="en-GB" sz="1350" cap="small" dirty="0">
              <a:solidFill>
                <a:srgbClr val="00B050"/>
              </a:solidFill>
            </a:endParaRPr>
          </a:p>
        </p:txBody>
      </p:sp>
      <p:sp>
        <p:nvSpPr>
          <p:cNvPr id="4" name="TextShape 10">
            <a:extLst>
              <a:ext uri="{FF2B5EF4-FFF2-40B4-BE49-F238E27FC236}">
                <a16:creationId xmlns:a16="http://schemas.microsoft.com/office/drawing/2014/main" id="{A6178A32-DCC1-D2AF-25F4-FAF3BA4031CF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CD92AD-37A6-DA6B-AEC3-EBE15F15D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49" y="1203579"/>
            <a:ext cx="3226535" cy="18679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40B193-B45A-7419-EF41-05D3DBDC0478}"/>
              </a:ext>
            </a:extLst>
          </p:cNvPr>
          <p:cNvSpPr txBox="1"/>
          <p:nvPr/>
        </p:nvSpPr>
        <p:spPr>
          <a:xfrm>
            <a:off x="4037592" y="661802"/>
            <a:ext cx="335404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b="1" cap="small" dirty="0">
                <a:solidFill>
                  <a:srgbClr val="00B050"/>
                </a:solidFill>
                <a:latin typeface="+mj-lt"/>
              </a:rPr>
              <a:t>PowerShell</a:t>
            </a:r>
            <a:br>
              <a:rPr lang="en-US" sz="1350" b="1" cap="small" dirty="0">
                <a:solidFill>
                  <a:srgbClr val="00B050"/>
                </a:solidFill>
                <a:latin typeface="+mj-lt"/>
              </a:rPr>
            </a:br>
            <a:r>
              <a:rPr lang="en-US" sz="1350" cap="small" dirty="0">
                <a:solidFill>
                  <a:srgbClr val="00B050"/>
                </a:solidFill>
                <a:latin typeface="+mj-lt"/>
              </a:rPr>
              <a:t>Windows</a:t>
            </a:r>
            <a:endParaRPr lang="en-GB" sz="1350" cap="small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A9FD5B-9B87-92D4-5127-1F53A0B48171}"/>
              </a:ext>
            </a:extLst>
          </p:cNvPr>
          <p:cNvSpPr txBox="1"/>
          <p:nvPr/>
        </p:nvSpPr>
        <p:spPr>
          <a:xfrm>
            <a:off x="4308826" y="3552162"/>
            <a:ext cx="3753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$</a:t>
            </a:r>
            <a:r>
              <a:rPr lang="en-GB" sz="1200" dirty="0" err="1"/>
              <a:t>env:JULIA_NUM_THREADS</a:t>
            </a:r>
            <a:r>
              <a:rPr lang="en-GB" sz="1200" dirty="0"/>
              <a:t>=6</a:t>
            </a:r>
            <a:br>
              <a:rPr lang="en-GB" sz="1200" dirty="0"/>
            </a:br>
            <a:r>
              <a:rPr lang="en-GB" sz="1200" dirty="0" err="1"/>
              <a:t>julia</a:t>
            </a:r>
            <a:br>
              <a:rPr lang="en-GB" sz="1200" dirty="0"/>
            </a:br>
            <a:r>
              <a:rPr lang="en-GB" sz="1200" dirty="0"/>
              <a:t>using MAGEMinApp</a:t>
            </a:r>
            <a:br>
              <a:rPr lang="en-GB" sz="1200" dirty="0"/>
            </a:br>
            <a:r>
              <a:rPr lang="en-GB" sz="1200" dirty="0"/>
              <a:t>App()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4BF1ED-E7FE-3E2C-1F6F-805F8A18D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7148" y="389026"/>
            <a:ext cx="1451062" cy="26409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A96A2CC-8962-F301-1B50-C4C168A2CB91}"/>
              </a:ext>
            </a:extLst>
          </p:cNvPr>
          <p:cNvSpPr txBox="1"/>
          <p:nvPr/>
        </p:nvSpPr>
        <p:spPr>
          <a:xfrm>
            <a:off x="474387" y="3244889"/>
            <a:ext cx="3753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err="1"/>
              <a:t>julia</a:t>
            </a:r>
            <a:r>
              <a:rPr lang="en-GB" sz="1200" dirty="0"/>
              <a:t> –t 6</a:t>
            </a:r>
            <a:br>
              <a:rPr lang="en-GB" sz="1200" dirty="0"/>
            </a:br>
            <a:r>
              <a:rPr lang="en-GB" sz="1200" dirty="0"/>
              <a:t>using MAGEMinApp</a:t>
            </a:r>
            <a:br>
              <a:rPr lang="en-GB" sz="1200" dirty="0"/>
            </a:br>
            <a:r>
              <a:rPr lang="en-GB" sz="1200" dirty="0"/>
              <a:t>App()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2884AD4-0D3C-F096-6A2D-A6ED036363ED}"/>
              </a:ext>
            </a:extLst>
          </p:cNvPr>
          <p:cNvCxnSpPr/>
          <p:nvPr/>
        </p:nvCxnSpPr>
        <p:spPr>
          <a:xfrm>
            <a:off x="474387" y="3302734"/>
            <a:ext cx="0" cy="5884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A3151A1-99FE-D3E1-3D7A-83D0B73FA4C3}"/>
              </a:ext>
            </a:extLst>
          </p:cNvPr>
          <p:cNvCxnSpPr>
            <a:cxnSpLocks/>
          </p:cNvCxnSpPr>
          <p:nvPr/>
        </p:nvCxnSpPr>
        <p:spPr>
          <a:xfrm>
            <a:off x="4308826" y="3599377"/>
            <a:ext cx="0" cy="7837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641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FDD3268-98EC-B87D-25B5-C7606241F2EC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MAGEMinApp: interface (Phase diagrams)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2" name="TextShape 10">
            <a:extLst>
              <a:ext uri="{FF2B5EF4-FFF2-40B4-BE49-F238E27FC236}">
                <a16:creationId xmlns:a16="http://schemas.microsoft.com/office/drawing/2014/main" id="{8B234C88-297B-CC60-C8CB-9B400C1FB7D4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C0B809-7ED4-E4AD-6075-E7BA4F529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84" y="473474"/>
            <a:ext cx="7357939" cy="461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0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FEBDD40-B83A-D04A-D88B-02FEA2772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84" y="473474"/>
            <a:ext cx="7357939" cy="46169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FDD3268-98EC-B87D-25B5-C7606241F2EC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MAGEMinApp: interface (Phase diagrams)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188C0-6DB9-E91A-2509-9AC3E0F561F7}"/>
              </a:ext>
            </a:extLst>
          </p:cNvPr>
          <p:cNvSpPr txBox="1"/>
          <p:nvPr/>
        </p:nvSpPr>
        <p:spPr>
          <a:xfrm>
            <a:off x="704684" y="4812268"/>
            <a:ext cx="228981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Grid properties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C31A1B-EF98-D408-55E1-7DBADC5773A5}"/>
              </a:ext>
            </a:extLst>
          </p:cNvPr>
          <p:cNvSpPr/>
          <p:nvPr/>
        </p:nvSpPr>
        <p:spPr>
          <a:xfrm>
            <a:off x="704684" y="1341120"/>
            <a:ext cx="2567774" cy="35356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13E4-C8EA-15C1-E000-CF1C1997B27D}"/>
              </a:ext>
            </a:extLst>
          </p:cNvPr>
          <p:cNvSpPr txBox="1"/>
          <p:nvPr/>
        </p:nvSpPr>
        <p:spPr>
          <a:xfrm>
            <a:off x="3569887" y="4474249"/>
            <a:ext cx="228981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Bulk rock composition(s)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9549ED-1D46-59E7-D3C2-9D6C085CCAD7}"/>
              </a:ext>
            </a:extLst>
          </p:cNvPr>
          <p:cNvSpPr/>
          <p:nvPr/>
        </p:nvSpPr>
        <p:spPr>
          <a:xfrm>
            <a:off x="3470744" y="1341120"/>
            <a:ext cx="2435760" cy="31089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AEEAC1-03AE-8856-747A-379A2CB1E04C}"/>
              </a:ext>
            </a:extLst>
          </p:cNvPr>
          <p:cNvSpPr txBox="1"/>
          <p:nvPr/>
        </p:nvSpPr>
        <p:spPr>
          <a:xfrm>
            <a:off x="5938772" y="3745553"/>
            <a:ext cx="2435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Save/load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Compute diagram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168462-2441-DAA8-EEF5-1549F214BB3D}"/>
              </a:ext>
            </a:extLst>
          </p:cNvPr>
          <p:cNvSpPr/>
          <p:nvPr/>
        </p:nvSpPr>
        <p:spPr>
          <a:xfrm>
            <a:off x="6117539" y="1341120"/>
            <a:ext cx="1981393" cy="15163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Shape 10">
            <a:extLst>
              <a:ext uri="{FF2B5EF4-FFF2-40B4-BE49-F238E27FC236}">
                <a16:creationId xmlns:a16="http://schemas.microsoft.com/office/drawing/2014/main" id="{70BBA0DE-3771-7050-58A7-B4EB1B674CD5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5DB1EB-CCAA-E95D-4561-987C04CC4B94}"/>
              </a:ext>
            </a:extLst>
          </p:cNvPr>
          <p:cNvSpPr/>
          <p:nvPr/>
        </p:nvSpPr>
        <p:spPr>
          <a:xfrm>
            <a:off x="5683559" y="842806"/>
            <a:ext cx="2567774" cy="27109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185CB1-BE65-089E-6652-C81BF3867D83}"/>
              </a:ext>
            </a:extLst>
          </p:cNvPr>
          <p:cNvSpPr txBox="1"/>
          <p:nvPr/>
        </p:nvSpPr>
        <p:spPr>
          <a:xfrm>
            <a:off x="7355725" y="462699"/>
            <a:ext cx="1726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Progress bar</a:t>
            </a:r>
            <a:endParaRPr lang="en-GB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745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49561E-3EAC-6737-E68D-E4B118409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47" y="496960"/>
            <a:ext cx="3237371" cy="45604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25FAD4-6225-0C27-D925-1EE7D86122E2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MAGEMinApp: Thermodynamic database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1C8B61-7350-C466-B56A-F3D672D5F29A}"/>
              </a:ext>
            </a:extLst>
          </p:cNvPr>
          <p:cNvSpPr/>
          <p:nvPr/>
        </p:nvSpPr>
        <p:spPr>
          <a:xfrm>
            <a:off x="562580" y="741834"/>
            <a:ext cx="1121840" cy="2590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0865E5-7F8D-DCF6-17D3-3A53E7BD4121}"/>
              </a:ext>
            </a:extLst>
          </p:cNvPr>
          <p:cNvSpPr txBox="1"/>
          <p:nvPr/>
        </p:nvSpPr>
        <p:spPr>
          <a:xfrm>
            <a:off x="3648824" y="664679"/>
            <a:ext cx="502833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Mantle (Holland et al., 2013)</a:t>
            </a:r>
            <a:br>
              <a:rPr lang="en-US" sz="1400" b="1" dirty="0">
                <a:solidFill>
                  <a:srgbClr val="C00000"/>
                </a:solidFill>
              </a:rPr>
            </a:br>
            <a:r>
              <a:rPr lang="en-US" sz="1400" b="1" dirty="0">
                <a:solidFill>
                  <a:srgbClr val="C00000"/>
                </a:solidFill>
              </a:rPr>
              <a:t>NCFMAS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Metapelite (White et al., 2014) </a:t>
            </a:r>
            <a:br>
              <a:rPr lang="en-US" sz="1400" b="1" dirty="0">
                <a:solidFill>
                  <a:srgbClr val="C00000"/>
                </a:solidFill>
              </a:rPr>
            </a:br>
            <a:r>
              <a:rPr lang="en-US" sz="1400" b="1" dirty="0" err="1">
                <a:solidFill>
                  <a:srgbClr val="C00000"/>
                </a:solidFill>
              </a:rPr>
              <a:t>MnNCKFMASHTO</a:t>
            </a:r>
            <a:endParaRPr lang="en-US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Metabasite (Green et al., 2016)</a:t>
            </a:r>
            <a:br>
              <a:rPr lang="en-US" sz="1400" b="1" dirty="0">
                <a:solidFill>
                  <a:srgbClr val="C00000"/>
                </a:solidFill>
              </a:rPr>
            </a:br>
            <a:r>
              <a:rPr lang="en-US" sz="1400" b="1" dirty="0">
                <a:solidFill>
                  <a:srgbClr val="C00000"/>
                </a:solidFill>
              </a:rPr>
              <a:t>NCKFMASHTO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Igneous (Green et al., 2025 after Holland et al., 2018)</a:t>
            </a:r>
            <a:br>
              <a:rPr lang="en-US" sz="1400" b="1" dirty="0">
                <a:solidFill>
                  <a:srgbClr val="C00000"/>
                </a:solidFill>
              </a:rPr>
            </a:br>
            <a:r>
              <a:rPr lang="en-US" sz="1400" b="1" dirty="0" err="1">
                <a:solidFill>
                  <a:srgbClr val="C00000"/>
                </a:solidFill>
              </a:rPr>
              <a:t>NCKFMASHTOCr</a:t>
            </a:r>
            <a:endParaRPr lang="en-US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Ultramafic (Evans &amp; Frost, 2021)</a:t>
            </a:r>
            <a:br>
              <a:rPr lang="en-US" sz="1400" b="1" dirty="0">
                <a:solidFill>
                  <a:srgbClr val="C00000"/>
                </a:solidFill>
              </a:rPr>
            </a:br>
            <a:r>
              <a:rPr lang="en-US" sz="1400" b="1" dirty="0">
                <a:solidFill>
                  <a:srgbClr val="C00000"/>
                </a:solidFill>
              </a:rPr>
              <a:t>FMASOSH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Dry igneous alkaline (Weller et al., in review)</a:t>
            </a:r>
            <a:br>
              <a:rPr lang="en-US" sz="1400" b="1" dirty="0">
                <a:solidFill>
                  <a:srgbClr val="C00000"/>
                </a:solidFill>
              </a:rPr>
            </a:br>
            <a:r>
              <a:rPr lang="en-US" sz="1400" b="1" dirty="0" err="1">
                <a:solidFill>
                  <a:srgbClr val="C00000"/>
                </a:solidFill>
              </a:rPr>
              <a:t>NCKFMASHTOCr</a:t>
            </a:r>
            <a:endParaRPr lang="en-US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Mantle (</a:t>
            </a:r>
            <a:r>
              <a:rPr lang="en-US" sz="1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Stixrude</a:t>
            </a:r>
            <a:r>
              <a:rPr lang="en-US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and Lithgow-</a:t>
            </a:r>
            <a:r>
              <a:rPr lang="en-US" sz="1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Bertelloni</a:t>
            </a:r>
            <a:r>
              <a:rPr lang="en-US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2011, 2021)</a:t>
            </a:r>
            <a:br>
              <a:rPr lang="en-US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NCFMAS (upcoming)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</p:txBody>
      </p:sp>
      <p:sp>
        <p:nvSpPr>
          <p:cNvPr id="2" name="TextShape 10">
            <a:extLst>
              <a:ext uri="{FF2B5EF4-FFF2-40B4-BE49-F238E27FC236}">
                <a16:creationId xmlns:a16="http://schemas.microsoft.com/office/drawing/2014/main" id="{C89522FC-ED1E-1775-FE41-CF4A11051AF3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4092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5C26F4-8164-D8A3-0DB9-847650E17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58" y="145286"/>
            <a:ext cx="3207787" cy="48647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252C27-5845-7F1D-7079-46EC45513375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MAGEMinApp: solution phase selection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539ADC-E9D8-DDA5-707B-4292B76FDAF6}"/>
              </a:ext>
            </a:extLst>
          </p:cNvPr>
          <p:cNvSpPr/>
          <p:nvPr/>
        </p:nvSpPr>
        <p:spPr>
          <a:xfrm>
            <a:off x="419459" y="881437"/>
            <a:ext cx="1121840" cy="2590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9EB116-FA08-FB29-5138-E508C7CA3044}"/>
              </a:ext>
            </a:extLst>
          </p:cNvPr>
          <p:cNvCxnSpPr>
            <a:stCxn id="7" idx="3"/>
          </p:cNvCxnSpPr>
          <p:nvPr/>
        </p:nvCxnSpPr>
        <p:spPr>
          <a:xfrm>
            <a:off x="1541299" y="1010977"/>
            <a:ext cx="207201" cy="114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E68CB0F-6B0C-4153-701C-50728C9D4BD8}"/>
              </a:ext>
            </a:extLst>
          </p:cNvPr>
          <p:cNvSpPr txBox="1"/>
          <p:nvPr/>
        </p:nvSpPr>
        <p:spPr>
          <a:xfrm>
            <a:off x="3495016" y="1010977"/>
            <a:ext cx="50864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C00000"/>
                </a:solidFill>
              </a:rPr>
              <a:t>Allow to deactivate 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C00000"/>
                </a:solidFill>
              </a:rPr>
              <a:t>Note that solution phase models from different dataset cannot be mixed (yet)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4AD052-5B25-B8E2-D0B8-A8D0E356D654}"/>
              </a:ext>
            </a:extLst>
          </p:cNvPr>
          <p:cNvSpPr/>
          <p:nvPr/>
        </p:nvSpPr>
        <p:spPr>
          <a:xfrm>
            <a:off x="1772572" y="881437"/>
            <a:ext cx="1423851" cy="227631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Shape 10">
            <a:extLst>
              <a:ext uri="{FF2B5EF4-FFF2-40B4-BE49-F238E27FC236}">
                <a16:creationId xmlns:a16="http://schemas.microsoft.com/office/drawing/2014/main" id="{E5B47C65-B797-5111-742B-54B95936BEAE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7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4172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674FB3-F148-BA60-DFA0-F192233D7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31" y="426702"/>
            <a:ext cx="2890964" cy="46473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AD7443-A671-D29A-9B64-E378AD29AAB6}"/>
              </a:ext>
            </a:extLst>
          </p:cNvPr>
          <p:cNvSpPr/>
          <p:nvPr/>
        </p:nvSpPr>
        <p:spPr>
          <a:xfrm>
            <a:off x="693209" y="1307571"/>
            <a:ext cx="778081" cy="2590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C9E9E-8B42-FFCB-3DF8-C02C6C5B91B4}"/>
              </a:ext>
            </a:extLst>
          </p:cNvPr>
          <p:cNvSpPr txBox="1"/>
          <p:nvPr/>
        </p:nvSpPr>
        <p:spPr>
          <a:xfrm>
            <a:off x="3515986" y="1094122"/>
            <a:ext cx="658356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P-T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5A78A2-37E1-511E-2E4A-CA96AA84E262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MAGEMinApp: diagram types</a:t>
            </a:r>
            <a:endParaRPr lang="en-US" dirty="0">
              <a:latin typeface="Bookman Old Style" panose="020506040505050202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D79BB5-0C90-BDFB-1F72-728DFF7B5563}"/>
              </a:ext>
            </a:extLst>
          </p:cNvPr>
          <p:cNvGrpSpPr/>
          <p:nvPr/>
        </p:nvGrpSpPr>
        <p:grpSpPr>
          <a:xfrm>
            <a:off x="4677486" y="877759"/>
            <a:ext cx="1161907" cy="962527"/>
            <a:chOff x="5266394" y="749395"/>
            <a:chExt cx="1161907" cy="962527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BBAA5E8-F1BD-2589-23F8-0B289A77658C}"/>
                </a:ext>
              </a:extLst>
            </p:cNvPr>
            <p:cNvCxnSpPr>
              <a:cxnSpLocks/>
            </p:cNvCxnSpPr>
            <p:nvPr/>
          </p:nvCxnSpPr>
          <p:spPr>
            <a:xfrm>
              <a:off x="5266394" y="1711922"/>
              <a:ext cx="1161907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63D1F9C-B12D-BFF3-503A-F842704A97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6394" y="749395"/>
              <a:ext cx="0" cy="962527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9075324-FF7B-D0EC-7F88-BBEE7697DC4D}"/>
              </a:ext>
            </a:extLst>
          </p:cNvPr>
          <p:cNvSpPr txBox="1"/>
          <p:nvPr/>
        </p:nvSpPr>
        <p:spPr>
          <a:xfrm rot="16200000">
            <a:off x="3795723" y="1255158"/>
            <a:ext cx="14626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C00000"/>
                </a:solidFill>
              </a:rPr>
              <a:t>Pressure [kbar]</a:t>
            </a:r>
            <a:endParaRPr lang="en-GB" sz="1100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F990BE-877C-6D4B-ACD8-22B0F6F8BF83}"/>
              </a:ext>
            </a:extLst>
          </p:cNvPr>
          <p:cNvSpPr txBox="1"/>
          <p:nvPr/>
        </p:nvSpPr>
        <p:spPr>
          <a:xfrm>
            <a:off x="4603807" y="1840286"/>
            <a:ext cx="14626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C00000"/>
                </a:solidFill>
              </a:rPr>
              <a:t>Temperature [°C]</a:t>
            </a:r>
            <a:endParaRPr lang="en-GB" sz="1100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7EB326-9EA7-1E77-2AE1-AFC539379BB0}"/>
              </a:ext>
            </a:extLst>
          </p:cNvPr>
          <p:cNvSpPr txBox="1"/>
          <p:nvPr/>
        </p:nvSpPr>
        <p:spPr>
          <a:xfrm>
            <a:off x="6428615" y="1129922"/>
            <a:ext cx="658356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P-X</a:t>
            </a:r>
            <a:endParaRPr lang="en-GB" b="1" dirty="0">
              <a:solidFill>
                <a:srgbClr val="C00000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998E4E-6FE2-BFEE-8CF2-89A0AD7D89F2}"/>
              </a:ext>
            </a:extLst>
          </p:cNvPr>
          <p:cNvGrpSpPr/>
          <p:nvPr/>
        </p:nvGrpSpPr>
        <p:grpSpPr>
          <a:xfrm>
            <a:off x="7644464" y="862370"/>
            <a:ext cx="1161907" cy="962527"/>
            <a:chOff x="5266394" y="749395"/>
            <a:chExt cx="1161907" cy="962527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9A07516-5F71-5530-D32A-469AF7571580}"/>
                </a:ext>
              </a:extLst>
            </p:cNvPr>
            <p:cNvCxnSpPr>
              <a:cxnSpLocks/>
            </p:cNvCxnSpPr>
            <p:nvPr/>
          </p:nvCxnSpPr>
          <p:spPr>
            <a:xfrm>
              <a:off x="5266394" y="1711922"/>
              <a:ext cx="1161907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3D0647D-5EC2-47FF-B3B7-8A5827381B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6394" y="749395"/>
              <a:ext cx="0" cy="962527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9E14B18-52C7-869B-27F0-B8835EB42ADB}"/>
              </a:ext>
            </a:extLst>
          </p:cNvPr>
          <p:cNvSpPr txBox="1"/>
          <p:nvPr/>
        </p:nvSpPr>
        <p:spPr>
          <a:xfrm rot="16200000">
            <a:off x="6769735" y="1239769"/>
            <a:ext cx="14626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C00000"/>
                </a:solidFill>
              </a:rPr>
              <a:t>Pressure [kbar]</a:t>
            </a:r>
            <a:endParaRPr lang="en-GB" sz="1100" dirty="0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DECB58-4A4D-917C-2120-DA0B11A75A32}"/>
              </a:ext>
            </a:extLst>
          </p:cNvPr>
          <p:cNvSpPr txBox="1"/>
          <p:nvPr/>
        </p:nvSpPr>
        <p:spPr>
          <a:xfrm>
            <a:off x="7570785" y="1824897"/>
            <a:ext cx="14626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C00000"/>
                </a:solidFill>
              </a:rPr>
              <a:t>Composition [bulk1-bulk2]</a:t>
            </a:r>
            <a:endParaRPr lang="en-GB" sz="1100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21C282-1CB6-8F97-97E5-C66ED3832927}"/>
              </a:ext>
            </a:extLst>
          </p:cNvPr>
          <p:cNvSpPr txBox="1"/>
          <p:nvPr/>
        </p:nvSpPr>
        <p:spPr>
          <a:xfrm>
            <a:off x="3504089" y="3122662"/>
            <a:ext cx="658356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T-X</a:t>
            </a:r>
            <a:endParaRPr lang="en-GB" b="1" dirty="0">
              <a:solidFill>
                <a:srgbClr val="C00000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6EF89BF-F576-2389-92B3-0D21729F0CD2}"/>
              </a:ext>
            </a:extLst>
          </p:cNvPr>
          <p:cNvGrpSpPr/>
          <p:nvPr/>
        </p:nvGrpSpPr>
        <p:grpSpPr>
          <a:xfrm>
            <a:off x="4740974" y="3173672"/>
            <a:ext cx="1161907" cy="962527"/>
            <a:chOff x="5266394" y="749395"/>
            <a:chExt cx="1161907" cy="96252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165D482-F331-D826-3BE8-C8D7C74AEA8D}"/>
                </a:ext>
              </a:extLst>
            </p:cNvPr>
            <p:cNvCxnSpPr>
              <a:cxnSpLocks/>
            </p:cNvCxnSpPr>
            <p:nvPr/>
          </p:nvCxnSpPr>
          <p:spPr>
            <a:xfrm>
              <a:off x="5266394" y="1711922"/>
              <a:ext cx="1161907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37293DB-E5E3-9476-15A3-AA001315AB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6394" y="749395"/>
              <a:ext cx="0" cy="962527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972AE09-8FA0-1ED6-497B-E438A9967D24}"/>
              </a:ext>
            </a:extLst>
          </p:cNvPr>
          <p:cNvSpPr txBox="1"/>
          <p:nvPr/>
        </p:nvSpPr>
        <p:spPr>
          <a:xfrm>
            <a:off x="4667295" y="4136199"/>
            <a:ext cx="14626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C00000"/>
                </a:solidFill>
              </a:rPr>
              <a:t>Composition [bulk1-bulk2]</a:t>
            </a:r>
            <a:endParaRPr lang="en-GB" sz="1100" dirty="0">
              <a:solidFill>
                <a:srgbClr val="C0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060F89-0378-DCCC-A627-2A3D2CC8B417}"/>
              </a:ext>
            </a:extLst>
          </p:cNvPr>
          <p:cNvSpPr txBox="1"/>
          <p:nvPr/>
        </p:nvSpPr>
        <p:spPr>
          <a:xfrm rot="16200000">
            <a:off x="3866038" y="3563060"/>
            <a:ext cx="14626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C00000"/>
                </a:solidFill>
              </a:rPr>
              <a:t>Temperature [°C]</a:t>
            </a:r>
            <a:endParaRPr lang="en-GB" sz="1100" dirty="0">
              <a:solidFill>
                <a:srgbClr val="C0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03B0B1-82D7-310E-6446-3946F9B0E539}"/>
              </a:ext>
            </a:extLst>
          </p:cNvPr>
          <p:cNvSpPr txBox="1"/>
          <p:nvPr/>
        </p:nvSpPr>
        <p:spPr>
          <a:xfrm>
            <a:off x="6026472" y="1515895"/>
            <a:ext cx="14626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C00000"/>
                </a:solidFill>
              </a:rPr>
              <a:t>Fixed </a:t>
            </a:r>
          </a:p>
          <a:p>
            <a:pPr algn="ctr"/>
            <a:r>
              <a:rPr lang="en-US" sz="1100" b="1" dirty="0">
                <a:solidFill>
                  <a:srgbClr val="C00000"/>
                </a:solidFill>
              </a:rPr>
              <a:t>temperature</a:t>
            </a:r>
            <a:endParaRPr lang="en-GB" sz="1100" dirty="0">
              <a:solidFill>
                <a:srgbClr val="C0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84C9F0-B8FE-28B8-C7B5-8E1F6327ADEE}"/>
              </a:ext>
            </a:extLst>
          </p:cNvPr>
          <p:cNvSpPr txBox="1"/>
          <p:nvPr/>
        </p:nvSpPr>
        <p:spPr>
          <a:xfrm>
            <a:off x="3033112" y="3477963"/>
            <a:ext cx="14626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C00000"/>
                </a:solidFill>
              </a:rPr>
              <a:t>Fixed </a:t>
            </a:r>
          </a:p>
          <a:p>
            <a:pPr algn="ctr"/>
            <a:r>
              <a:rPr lang="en-US" sz="1100" b="1" dirty="0">
                <a:solidFill>
                  <a:srgbClr val="C00000"/>
                </a:solidFill>
              </a:rPr>
              <a:t>pressure</a:t>
            </a:r>
            <a:endParaRPr lang="en-GB" sz="1100" dirty="0">
              <a:solidFill>
                <a:srgbClr val="C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EB5FAF-2082-A2F6-AC99-D2309F8B92A7}"/>
              </a:ext>
            </a:extLst>
          </p:cNvPr>
          <p:cNvSpPr txBox="1"/>
          <p:nvPr/>
        </p:nvSpPr>
        <p:spPr>
          <a:xfrm>
            <a:off x="6463785" y="3171455"/>
            <a:ext cx="793129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PT-X</a:t>
            </a:r>
            <a:endParaRPr lang="en-GB" b="1" dirty="0">
              <a:solidFill>
                <a:srgbClr val="C00000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16FA07C-B785-9DB0-E674-646792D5BD0B}"/>
              </a:ext>
            </a:extLst>
          </p:cNvPr>
          <p:cNvGrpSpPr/>
          <p:nvPr/>
        </p:nvGrpSpPr>
        <p:grpSpPr>
          <a:xfrm>
            <a:off x="7625583" y="3220040"/>
            <a:ext cx="1161907" cy="962527"/>
            <a:chOff x="5266394" y="749395"/>
            <a:chExt cx="1161907" cy="962527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CF2A856-F83A-7CDE-5FF4-EC2D52655E2C}"/>
                </a:ext>
              </a:extLst>
            </p:cNvPr>
            <p:cNvCxnSpPr>
              <a:cxnSpLocks/>
            </p:cNvCxnSpPr>
            <p:nvPr/>
          </p:nvCxnSpPr>
          <p:spPr>
            <a:xfrm>
              <a:off x="5266394" y="1711922"/>
              <a:ext cx="1161907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ED3B839-F6CB-1964-4B6A-535DD9B89A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6394" y="749395"/>
              <a:ext cx="0" cy="962527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71D4CAE-007F-7EED-B472-F4E44CFD01E7}"/>
              </a:ext>
            </a:extLst>
          </p:cNvPr>
          <p:cNvSpPr txBox="1"/>
          <p:nvPr/>
        </p:nvSpPr>
        <p:spPr>
          <a:xfrm rot="16200000">
            <a:off x="6757888" y="3597439"/>
            <a:ext cx="14626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C00000"/>
                </a:solidFill>
              </a:rPr>
              <a:t>PT path</a:t>
            </a:r>
            <a:endParaRPr lang="en-GB" sz="1100" dirty="0">
              <a:solidFill>
                <a:srgbClr val="C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54A8FE-D44B-AC92-284D-22E6971B5F64}"/>
              </a:ext>
            </a:extLst>
          </p:cNvPr>
          <p:cNvSpPr txBox="1"/>
          <p:nvPr/>
        </p:nvSpPr>
        <p:spPr>
          <a:xfrm>
            <a:off x="7551904" y="4182567"/>
            <a:ext cx="14626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C00000"/>
                </a:solidFill>
              </a:rPr>
              <a:t>Composition [bulk1-bulk2]</a:t>
            </a:r>
            <a:endParaRPr lang="en-GB" sz="1100" dirty="0">
              <a:solidFill>
                <a:srgbClr val="C00000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440C58D-CFC0-0DEF-5A9F-A5F848B5314C}"/>
              </a:ext>
            </a:extLst>
          </p:cNvPr>
          <p:cNvCxnSpPr>
            <a:cxnSpLocks/>
          </p:cNvCxnSpPr>
          <p:nvPr/>
        </p:nvCxnSpPr>
        <p:spPr>
          <a:xfrm>
            <a:off x="3928359" y="2623625"/>
            <a:ext cx="47852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6E88D1E-18DC-C503-21DE-EA7D8E5BA033}"/>
              </a:ext>
            </a:extLst>
          </p:cNvPr>
          <p:cNvCxnSpPr>
            <a:cxnSpLocks/>
          </p:cNvCxnSpPr>
          <p:nvPr/>
        </p:nvCxnSpPr>
        <p:spPr>
          <a:xfrm>
            <a:off x="6195287" y="883472"/>
            <a:ext cx="0" cy="3597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Shape 10">
            <a:extLst>
              <a:ext uri="{FF2B5EF4-FFF2-40B4-BE49-F238E27FC236}">
                <a16:creationId xmlns:a16="http://schemas.microsoft.com/office/drawing/2014/main" id="{98E0D25C-AE04-C83E-99A1-CAC0B03B5F64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8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4348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098DBB-393C-3356-399A-550E9251C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31" y="426702"/>
            <a:ext cx="2890964" cy="46473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B896183-6CE2-FB7D-408C-5AEE5737689A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MAGEMinApp: Trace element predictive model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2CD83-650B-BCC3-C111-15F86F312293}"/>
              </a:ext>
            </a:extLst>
          </p:cNvPr>
          <p:cNvSpPr/>
          <p:nvPr/>
        </p:nvSpPr>
        <p:spPr>
          <a:xfrm>
            <a:off x="615206" y="1874520"/>
            <a:ext cx="2560763" cy="39319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02E9C3-A348-1746-64CB-D9F2519006C0}"/>
              </a:ext>
            </a:extLst>
          </p:cNvPr>
          <p:cNvSpPr txBox="1"/>
          <p:nvPr/>
        </p:nvSpPr>
        <p:spPr>
          <a:xfrm>
            <a:off x="3278926" y="976602"/>
            <a:ext cx="410485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Activate trace-element partitioning at supra-solidus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Displays trace element bulk panel on the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Gives the option to select among 3 zirconium saturation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C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68E6E0-6381-5C45-5C14-32404B284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371" y="536264"/>
            <a:ext cx="1792629" cy="40709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46CB44-C37E-CFDC-61B6-FC7B659FF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996" y="2795309"/>
            <a:ext cx="1356157" cy="728682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99C0C1-4285-6FEA-B848-534F6D1714D1}"/>
              </a:ext>
            </a:extLst>
          </p:cNvPr>
          <p:cNvSpPr/>
          <p:nvPr/>
        </p:nvSpPr>
        <p:spPr>
          <a:xfrm>
            <a:off x="7248413" y="1741264"/>
            <a:ext cx="1895587" cy="31355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62566D0-651D-3D54-0956-B7089A3A1C7D}"/>
              </a:ext>
            </a:extLst>
          </p:cNvPr>
          <p:cNvCxnSpPr>
            <a:cxnSpLocks/>
          </p:cNvCxnSpPr>
          <p:nvPr/>
        </p:nvCxnSpPr>
        <p:spPr>
          <a:xfrm>
            <a:off x="3149495" y="2267712"/>
            <a:ext cx="195685" cy="17297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FDE28C-58B9-0BC9-F0B1-D7C2110BB063}"/>
              </a:ext>
            </a:extLst>
          </p:cNvPr>
          <p:cNvCxnSpPr>
            <a:cxnSpLocks/>
          </p:cNvCxnSpPr>
          <p:nvPr/>
        </p:nvCxnSpPr>
        <p:spPr>
          <a:xfrm flipV="1">
            <a:off x="3175969" y="1237991"/>
            <a:ext cx="169211" cy="63652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Shape 10">
            <a:extLst>
              <a:ext uri="{FF2B5EF4-FFF2-40B4-BE49-F238E27FC236}">
                <a16:creationId xmlns:a16="http://schemas.microsoft.com/office/drawing/2014/main" id="{CEC6A1AC-618F-16D2-FDC3-055E146F4B75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CA66C9-4D64-4263-B84E-B5690DCE5020}"/>
              </a:ext>
            </a:extLst>
          </p:cNvPr>
          <p:cNvSpPr txBox="1"/>
          <p:nvPr/>
        </p:nvSpPr>
        <p:spPr>
          <a:xfrm>
            <a:off x="3613893" y="321399"/>
            <a:ext cx="49663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/>
              <a:t>Implemented with the help of J-F </a:t>
            </a:r>
            <a:r>
              <a:rPr lang="en-US" sz="1050" i="1" dirty="0" err="1"/>
              <a:t>Moyen</a:t>
            </a:r>
            <a:r>
              <a:rPr lang="en-US" sz="1050" i="1" dirty="0"/>
              <a:t> (LMV)  and H. Dominguez (Uni - Bern)</a:t>
            </a:r>
          </a:p>
        </p:txBody>
      </p:sp>
    </p:spTree>
    <p:extLst>
      <p:ext uri="{BB962C8B-B14F-4D97-AF65-F5344CB8AC3E}">
        <p14:creationId xmlns:p14="http://schemas.microsoft.com/office/powerpoint/2010/main" val="1037025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ADBDDF-3AC1-77C3-20A9-EB2912CFD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31" y="426702"/>
            <a:ext cx="2890964" cy="46473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C6EB3E-6435-CAA2-5B18-E387CE6B47F9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MAGEMinApp: grid subdivision and refinement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3CEA48-8194-A196-9CDD-D159AA827EF8}"/>
              </a:ext>
            </a:extLst>
          </p:cNvPr>
          <p:cNvSpPr/>
          <p:nvPr/>
        </p:nvSpPr>
        <p:spPr>
          <a:xfrm>
            <a:off x="583206" y="3072384"/>
            <a:ext cx="2566289" cy="20421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40323D5-8C1A-1111-6D4B-D64471A97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00" y="684802"/>
            <a:ext cx="1466491" cy="120921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B15482E-35F7-35FC-0D7B-C308390B8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492" y="2162736"/>
            <a:ext cx="1427899" cy="118348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E4DAF44-1807-A06D-00DF-DB88A01CC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357" y="3661690"/>
            <a:ext cx="1402171" cy="117490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87D2EC0-4589-2AD2-298B-AB9E348B85B6}"/>
              </a:ext>
            </a:extLst>
          </p:cNvPr>
          <p:cNvSpPr txBox="1"/>
          <p:nvPr/>
        </p:nvSpPr>
        <p:spPr>
          <a:xfrm>
            <a:off x="6203084" y="1016030"/>
            <a:ext cx="228981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1 initial grid subdivision</a:t>
            </a:r>
            <a:endParaRPr lang="en-GB" sz="1600" b="1" dirty="0">
              <a:solidFill>
                <a:srgbClr val="C0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10CBAB-DF55-B02E-1F51-1D5A4996ACF1}"/>
              </a:ext>
            </a:extLst>
          </p:cNvPr>
          <p:cNvSpPr txBox="1"/>
          <p:nvPr/>
        </p:nvSpPr>
        <p:spPr>
          <a:xfrm>
            <a:off x="6270984" y="2371189"/>
            <a:ext cx="228981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2 initial grid subdivisions</a:t>
            </a:r>
            <a:endParaRPr lang="en-GB" sz="1600" b="1" dirty="0">
              <a:solidFill>
                <a:srgbClr val="C0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31C5F6-EDCD-91FE-6363-207AF7B0481C}"/>
              </a:ext>
            </a:extLst>
          </p:cNvPr>
          <p:cNvSpPr txBox="1"/>
          <p:nvPr/>
        </p:nvSpPr>
        <p:spPr>
          <a:xfrm>
            <a:off x="6270984" y="3925978"/>
            <a:ext cx="228981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3 initial grid subdivisions</a:t>
            </a:r>
            <a:endParaRPr lang="en-GB" sz="1600" b="1" dirty="0">
              <a:solidFill>
                <a:srgbClr val="C00000"/>
              </a:solidFill>
            </a:endParaRPr>
          </a:p>
        </p:txBody>
      </p:sp>
      <p:sp>
        <p:nvSpPr>
          <p:cNvPr id="2" name="TextShape 10">
            <a:extLst>
              <a:ext uri="{FF2B5EF4-FFF2-40B4-BE49-F238E27FC236}">
                <a16:creationId xmlns:a16="http://schemas.microsoft.com/office/drawing/2014/main" id="{6CB0D983-1E6A-72E1-20FC-1A6A53901200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10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7216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7E1E9C56-83EF-EAD9-8F8D-B612DBECE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31" y="426702"/>
            <a:ext cx="2890964" cy="464733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6666B5C-EE03-1C80-6C7B-8624FDD9AE2A}"/>
              </a:ext>
            </a:extLst>
          </p:cNvPr>
          <p:cNvGrpSpPr/>
          <p:nvPr/>
        </p:nvGrpSpPr>
        <p:grpSpPr>
          <a:xfrm>
            <a:off x="3997959" y="2966141"/>
            <a:ext cx="4815108" cy="1552089"/>
            <a:chOff x="3997959" y="3309903"/>
            <a:chExt cx="4815108" cy="1552089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A9922CB9-7476-E5BB-5A41-019539EDD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97959" y="3309903"/>
              <a:ext cx="3720660" cy="1552089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2E1C528-49B7-B91C-8B42-06F9F2770E65}"/>
                </a:ext>
              </a:extLst>
            </p:cNvPr>
            <p:cNvCxnSpPr/>
            <p:nvPr/>
          </p:nvCxnSpPr>
          <p:spPr>
            <a:xfrm>
              <a:off x="5920271" y="4086165"/>
              <a:ext cx="25438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DAA6516-56B1-8776-632A-077275A9394C}"/>
                </a:ext>
              </a:extLst>
            </p:cNvPr>
            <p:cNvCxnSpPr>
              <a:cxnSpLocks/>
              <a:stCxn id="30" idx="1"/>
            </p:cNvCxnSpPr>
            <p:nvPr/>
          </p:nvCxnSpPr>
          <p:spPr>
            <a:xfrm flipH="1" flipV="1">
              <a:off x="7339598" y="3901637"/>
              <a:ext cx="606730" cy="2476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2A96BAC-9FFE-18F9-5DF4-A2F779B9D2A9}"/>
                </a:ext>
              </a:extLst>
            </p:cNvPr>
            <p:cNvCxnSpPr>
              <a:cxnSpLocks/>
              <a:stCxn id="30" idx="1"/>
            </p:cNvCxnSpPr>
            <p:nvPr/>
          </p:nvCxnSpPr>
          <p:spPr>
            <a:xfrm flipH="1" flipV="1">
              <a:off x="6765185" y="3901637"/>
              <a:ext cx="1181143" cy="2476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4899E18-F67D-9341-A19D-4B2E900738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5185" y="4180113"/>
              <a:ext cx="1181143" cy="15125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673F222-2506-3324-A1A4-BE29FCD564ED}"/>
                </a:ext>
              </a:extLst>
            </p:cNvPr>
            <p:cNvCxnSpPr>
              <a:cxnSpLocks/>
              <a:stCxn id="30" idx="1"/>
            </p:cNvCxnSpPr>
            <p:nvPr/>
          </p:nvCxnSpPr>
          <p:spPr>
            <a:xfrm flipH="1">
              <a:off x="7339598" y="4149336"/>
              <a:ext cx="606730" cy="18203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5F6707D-5CA6-B279-ED3B-37AE09CDECF5}"/>
                </a:ext>
              </a:extLst>
            </p:cNvPr>
            <p:cNvSpPr txBox="1"/>
            <p:nvPr/>
          </p:nvSpPr>
          <p:spPr>
            <a:xfrm>
              <a:off x="7946328" y="3856948"/>
              <a:ext cx="86673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</a:rPr>
                <a:t>New </a:t>
              </a:r>
            </a:p>
            <a:p>
              <a:r>
                <a:rPr lang="en-US" sz="1600" dirty="0">
                  <a:solidFill>
                    <a:srgbClr val="C00000"/>
                  </a:solidFill>
                </a:rPr>
                <a:t>points</a:t>
              </a:r>
              <a:endParaRPr lang="en-GB" sz="1600" dirty="0">
                <a:solidFill>
                  <a:srgbClr val="C00000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BAB4424-D7DB-1D82-5D06-7B031C518BEE}"/>
              </a:ext>
            </a:extLst>
          </p:cNvPr>
          <p:cNvSpPr txBox="1"/>
          <p:nvPr/>
        </p:nvSpPr>
        <p:spPr>
          <a:xfrm>
            <a:off x="3867843" y="487063"/>
            <a:ext cx="41048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</a:rPr>
              <a:t>Phase only</a:t>
            </a:r>
            <a:br>
              <a:rPr lang="en-US" sz="1600" b="1" dirty="0">
                <a:solidFill>
                  <a:srgbClr val="C00000"/>
                </a:solidFill>
              </a:rPr>
            </a:br>
            <a:r>
              <a:rPr lang="en-US" sz="1600" dirty="0">
                <a:solidFill>
                  <a:srgbClr val="C00000"/>
                </a:solidFill>
              </a:rPr>
              <a:t>refines (split) cells when a phase change is recorded in one of the four corners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</a:rPr>
              <a:t>Dominant end-member</a:t>
            </a:r>
            <a:br>
              <a:rPr lang="en-US" sz="1600" b="1" dirty="0">
                <a:solidFill>
                  <a:srgbClr val="C00000"/>
                </a:solidFill>
              </a:rPr>
            </a:br>
            <a:r>
              <a:rPr lang="en-US" sz="1600" dirty="0">
                <a:solidFill>
                  <a:srgbClr val="C00000"/>
                </a:solidFill>
              </a:rPr>
              <a:t>refines (split) cells when the dominant end-member of any solution phase model changes in one of the four corners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</a:rPr>
              <a:t>Refinement levels</a:t>
            </a:r>
            <a:br>
              <a:rPr lang="en-US" sz="1600" b="1" dirty="0">
                <a:solidFill>
                  <a:srgbClr val="C00000"/>
                </a:solidFill>
              </a:rPr>
            </a:br>
            <a:r>
              <a:rPr lang="en-US" sz="1600" dirty="0">
                <a:solidFill>
                  <a:srgbClr val="C00000"/>
                </a:solidFill>
              </a:rPr>
              <a:t>Number of successive grid refinements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C1694-472C-893C-1066-F2A8A51BBAA6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MAGEMinApp: grid subdivision and refinement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606CD2-D90B-2FF6-9AA4-3A5377C871E6}"/>
              </a:ext>
            </a:extLst>
          </p:cNvPr>
          <p:cNvSpPr/>
          <p:nvPr/>
        </p:nvSpPr>
        <p:spPr>
          <a:xfrm>
            <a:off x="583207" y="3226924"/>
            <a:ext cx="2853413" cy="52005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Shape 10">
            <a:extLst>
              <a:ext uri="{FF2B5EF4-FFF2-40B4-BE49-F238E27FC236}">
                <a16:creationId xmlns:a16="http://schemas.microsoft.com/office/drawing/2014/main" id="{0E59D107-5B39-B413-F42C-3CE8CC3C0F1B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11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07CB12-3BDB-7F4B-4AA2-70ABC36C14C9}"/>
              </a:ext>
            </a:extLst>
          </p:cNvPr>
          <p:cNvSpPr txBox="1"/>
          <p:nvPr/>
        </p:nvSpPr>
        <p:spPr>
          <a:xfrm>
            <a:off x="6594305" y="2729568"/>
            <a:ext cx="3417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E2CF0-78B8-D3AB-260D-C6E4CEEDB3FB}"/>
              </a:ext>
            </a:extLst>
          </p:cNvPr>
          <p:cNvSpPr txBox="1"/>
          <p:nvPr/>
        </p:nvSpPr>
        <p:spPr>
          <a:xfrm>
            <a:off x="6834385" y="3432736"/>
            <a:ext cx="3417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F01DBB-1428-A669-36BE-F1D18040C251}"/>
              </a:ext>
            </a:extLst>
          </p:cNvPr>
          <p:cNvSpPr txBox="1"/>
          <p:nvPr/>
        </p:nvSpPr>
        <p:spPr>
          <a:xfrm>
            <a:off x="6553080" y="3202740"/>
            <a:ext cx="3417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D61322-0132-2A7F-58BB-D12D8F6F2313}"/>
              </a:ext>
            </a:extLst>
          </p:cNvPr>
          <p:cNvSpPr txBox="1"/>
          <p:nvPr/>
        </p:nvSpPr>
        <p:spPr>
          <a:xfrm>
            <a:off x="6284097" y="2972744"/>
            <a:ext cx="3417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3995D1-EC8A-C42F-2381-2E73E072C584}"/>
              </a:ext>
            </a:extLst>
          </p:cNvPr>
          <p:cNvSpPr txBox="1"/>
          <p:nvPr/>
        </p:nvSpPr>
        <p:spPr>
          <a:xfrm>
            <a:off x="6553080" y="3681724"/>
            <a:ext cx="3417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E9A357-2036-61A2-7D67-F218012298AE}"/>
              </a:ext>
            </a:extLst>
          </p:cNvPr>
          <p:cNvSpPr txBox="1"/>
          <p:nvPr/>
        </p:nvSpPr>
        <p:spPr>
          <a:xfrm>
            <a:off x="7088465" y="2727803"/>
            <a:ext cx="3417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8B5230-1A49-3910-0ABD-8F5E858DDE79}"/>
              </a:ext>
            </a:extLst>
          </p:cNvPr>
          <p:cNvSpPr txBox="1"/>
          <p:nvPr/>
        </p:nvSpPr>
        <p:spPr>
          <a:xfrm>
            <a:off x="6277014" y="3432735"/>
            <a:ext cx="3417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CC2481-23F1-0F75-D0F5-11D2BF4F1DA9}"/>
              </a:ext>
            </a:extLst>
          </p:cNvPr>
          <p:cNvSpPr txBox="1"/>
          <p:nvPr/>
        </p:nvSpPr>
        <p:spPr>
          <a:xfrm>
            <a:off x="6834385" y="2947358"/>
            <a:ext cx="3417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21FB07-FEDB-93B0-FC7B-C90E4040FA4D}"/>
              </a:ext>
            </a:extLst>
          </p:cNvPr>
          <p:cNvSpPr txBox="1"/>
          <p:nvPr/>
        </p:nvSpPr>
        <p:spPr>
          <a:xfrm>
            <a:off x="7397472" y="3006791"/>
            <a:ext cx="3417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839AAE-7135-3347-EDD8-E866E9949023}"/>
              </a:ext>
            </a:extLst>
          </p:cNvPr>
          <p:cNvSpPr txBox="1"/>
          <p:nvPr/>
        </p:nvSpPr>
        <p:spPr>
          <a:xfrm>
            <a:off x="7112481" y="3689390"/>
            <a:ext cx="3417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819394-DBAA-912F-BE52-A55C65BE42C5}"/>
              </a:ext>
            </a:extLst>
          </p:cNvPr>
          <p:cNvSpPr txBox="1"/>
          <p:nvPr/>
        </p:nvSpPr>
        <p:spPr>
          <a:xfrm>
            <a:off x="7391534" y="3406183"/>
            <a:ext cx="3417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5A0C74-BDCB-7B9C-5BA4-21DFB0D922F1}"/>
              </a:ext>
            </a:extLst>
          </p:cNvPr>
          <p:cNvSpPr txBox="1"/>
          <p:nvPr/>
        </p:nvSpPr>
        <p:spPr>
          <a:xfrm>
            <a:off x="7112481" y="3209726"/>
            <a:ext cx="3417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0604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A92F716-D56C-32ED-203A-968722B8489E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MAGEMinApp: grid refinement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2" name="TextShape 10">
            <a:extLst>
              <a:ext uri="{FF2B5EF4-FFF2-40B4-BE49-F238E27FC236}">
                <a16:creationId xmlns:a16="http://schemas.microsoft.com/office/drawing/2014/main" id="{B3F24351-2484-FD48-38FA-2B7D1D16FB00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12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A1FFEF-01FE-57F1-1B20-378205377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11" y="336429"/>
            <a:ext cx="6019137" cy="478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954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EECC25-66D7-9E32-CE89-0635EFC877DF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MAGEMinApp: grid refinement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2" name="TextShape 10">
            <a:extLst>
              <a:ext uri="{FF2B5EF4-FFF2-40B4-BE49-F238E27FC236}">
                <a16:creationId xmlns:a16="http://schemas.microsoft.com/office/drawing/2014/main" id="{920C13FA-427B-DAD8-FFE7-C1FEF4991466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13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486B90-8A78-B837-0EF2-D61B4EE9D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186" y="369332"/>
            <a:ext cx="6099317" cy="477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00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4F13D4-B526-5E86-2315-B6917BA96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31" y="426702"/>
            <a:ext cx="2890964" cy="46473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AB4424-D7DB-1D82-5D06-7B031C518BEE}"/>
              </a:ext>
            </a:extLst>
          </p:cNvPr>
          <p:cNvSpPr txBox="1"/>
          <p:nvPr/>
        </p:nvSpPr>
        <p:spPr>
          <a:xfrm>
            <a:off x="3709713" y="528313"/>
            <a:ext cx="463676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Oxygen buffers</a:t>
            </a:r>
            <a:br>
              <a:rPr lang="en-US" sz="1400" b="1" dirty="0">
                <a:solidFill>
                  <a:srgbClr val="C00000"/>
                </a:solidFill>
              </a:rPr>
            </a:br>
            <a:r>
              <a:rPr lang="en-US" sz="1400" dirty="0">
                <a:solidFill>
                  <a:srgbClr val="C00000"/>
                </a:solidFill>
              </a:rPr>
              <a:t>QFM, MW, QIF, CCO, HM, NNO, IW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Fix system activity</a:t>
            </a:r>
            <a:br>
              <a:rPr lang="en-US" sz="1400" b="1" dirty="0">
                <a:solidFill>
                  <a:srgbClr val="C00000"/>
                </a:solidFill>
              </a:rPr>
            </a:br>
            <a:r>
              <a:rPr lang="en-US" sz="1400" dirty="0">
                <a:solidFill>
                  <a:srgbClr val="C00000"/>
                </a:solidFill>
              </a:rPr>
              <a:t>H2O, O2, SiO2, </a:t>
            </a:r>
            <a:r>
              <a:rPr lang="en-US" sz="1400" dirty="0" err="1">
                <a:solidFill>
                  <a:srgbClr val="C00000"/>
                </a:solidFill>
              </a:rPr>
              <a:t>FeO</a:t>
            </a:r>
            <a:r>
              <a:rPr lang="en-US" sz="1400" dirty="0">
                <a:solidFill>
                  <a:srgbClr val="C00000"/>
                </a:solidFill>
              </a:rPr>
              <a:t>, MgO, Al2O3, TiO2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C1694-472C-893C-1066-F2A8A51BBAA6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MAGEMinApp: buffers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606CD2-D90B-2FF6-9AA4-3A5377C871E6}"/>
              </a:ext>
            </a:extLst>
          </p:cNvPr>
          <p:cNvSpPr/>
          <p:nvPr/>
        </p:nvSpPr>
        <p:spPr>
          <a:xfrm>
            <a:off x="583207" y="4032504"/>
            <a:ext cx="2853413" cy="2575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51C418-1040-1148-60D4-CAD711D8F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616" y="1808718"/>
            <a:ext cx="2196390" cy="308575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F56B201-4EC2-CF7F-B01E-636198D5CD6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436620" y="4161267"/>
            <a:ext cx="660992" cy="34638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18A8918-C803-C065-00CA-292AB940C6D0}"/>
              </a:ext>
            </a:extLst>
          </p:cNvPr>
          <p:cNvSpPr/>
          <p:nvPr/>
        </p:nvSpPr>
        <p:spPr>
          <a:xfrm>
            <a:off x="4207616" y="4393245"/>
            <a:ext cx="1134405" cy="22881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1DA09B-F165-3CF3-6303-2E6427C49B1C}"/>
              </a:ext>
            </a:extLst>
          </p:cNvPr>
          <p:cNvSpPr txBox="1"/>
          <p:nvPr/>
        </p:nvSpPr>
        <p:spPr>
          <a:xfrm>
            <a:off x="6290033" y="2860861"/>
            <a:ext cx="27062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Selecting a buffer displays the option to apply a shift in the </a:t>
            </a:r>
            <a:r>
              <a:rPr lang="en-US" sz="1400" b="1" dirty="0" err="1">
                <a:solidFill>
                  <a:srgbClr val="C00000"/>
                </a:solidFill>
              </a:rPr>
              <a:t>RTlog</a:t>
            </a:r>
            <a:r>
              <a:rPr lang="en-US" sz="1400" b="1" dirty="0">
                <a:solidFill>
                  <a:srgbClr val="C00000"/>
                </a:solidFill>
              </a:rPr>
              <a:t> scale</a:t>
            </a:r>
            <a:br>
              <a:rPr lang="en-US" sz="1400" b="1" dirty="0">
                <a:solidFill>
                  <a:srgbClr val="C00000"/>
                </a:solidFill>
              </a:rPr>
            </a:br>
            <a:r>
              <a:rPr lang="en-US" sz="1400" dirty="0">
                <a:solidFill>
                  <a:srgbClr val="C00000"/>
                </a:solidFill>
              </a:rPr>
              <a:t>e.g., +2 QFM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</a:rPr>
              <a:t>Allow to provide the activity value in case activity is selected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EF16D33-767D-63FF-4AE3-998107579484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5342021" y="3031958"/>
            <a:ext cx="948012" cy="147569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B4E2736-689E-9D33-6F48-75DA037EC0CA}"/>
              </a:ext>
            </a:extLst>
          </p:cNvPr>
          <p:cNvCxnSpPr>
            <a:cxnSpLocks/>
          </p:cNvCxnSpPr>
          <p:nvPr/>
        </p:nvCxnSpPr>
        <p:spPr>
          <a:xfrm flipV="1">
            <a:off x="5342021" y="4290030"/>
            <a:ext cx="948012" cy="21762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Shape 10">
            <a:extLst>
              <a:ext uri="{FF2B5EF4-FFF2-40B4-BE49-F238E27FC236}">
                <a16:creationId xmlns:a16="http://schemas.microsoft.com/office/drawing/2014/main" id="{C8226755-FB66-0CB8-41E4-FF473DC9A02A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14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8930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CE3D0DC-AFAF-5C12-9523-14D2EB740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31" y="426702"/>
            <a:ext cx="2890964" cy="46473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AB4424-D7DB-1D82-5D06-7B031C518BEE}"/>
              </a:ext>
            </a:extLst>
          </p:cNvPr>
          <p:cNvSpPr txBox="1"/>
          <p:nvPr/>
        </p:nvSpPr>
        <p:spPr>
          <a:xfrm>
            <a:off x="3388493" y="823870"/>
            <a:ext cx="54894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</a:rPr>
              <a:t>Method to compute specific heat capacity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C1694-472C-893C-1066-F2A8A51BBAA6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MAGEMinApp: Specific heat capacity (latent heat of reaction)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606CD2-D90B-2FF6-9AA4-3A5377C871E6}"/>
              </a:ext>
            </a:extLst>
          </p:cNvPr>
          <p:cNvSpPr/>
          <p:nvPr/>
        </p:nvSpPr>
        <p:spPr>
          <a:xfrm>
            <a:off x="535080" y="4716798"/>
            <a:ext cx="2853413" cy="3239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C23902-F361-B428-60C6-4E0137DC267E}"/>
                  </a:ext>
                </a:extLst>
              </p:cNvPr>
              <p:cNvSpPr txBox="1"/>
              <p:nvPr/>
            </p:nvSpPr>
            <p:spPr>
              <a:xfrm>
                <a:off x="3445024" y="1389752"/>
                <a:ext cx="5375419" cy="56983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C23902-F361-B428-60C6-4E0137DC2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024" y="1389752"/>
                <a:ext cx="5375419" cy="5698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FD223B-3D92-52CD-36DA-0CE6610C3155}"/>
                  </a:ext>
                </a:extLst>
              </p:cNvPr>
              <p:cNvSpPr txBox="1"/>
              <p:nvPr/>
            </p:nvSpPr>
            <p:spPr>
              <a:xfrm>
                <a:off x="3717064" y="1983227"/>
                <a:ext cx="430263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0" i="1" dirty="0">
                    <a:latin typeface="Arial (Body)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𝐶𝑝</m:t>
                    </m:r>
                  </m:oMath>
                </a14:m>
                <a:r>
                  <a:rPr lang="en-GB" sz="1100" i="1" dirty="0">
                    <a:effectLst/>
                    <a:latin typeface="Arial (Body)"/>
                    <a:ea typeface="Calibri" panose="020F0502020204030204" pitchFamily="34" charset="0"/>
                    <a:cs typeface="Times New Roman" panose="02020603050405020304" pitchFamily="18" charset="0"/>
                  </a:rPr>
                  <a:t> is the specific heat capacity,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100" i="1" dirty="0">
                    <a:latin typeface="Arial (Body)"/>
                  </a:rPr>
                  <a:t> is the temperature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FD223B-3D92-52CD-36DA-0CE6610C3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064" y="1983227"/>
                <a:ext cx="4302636" cy="261610"/>
              </a:xfrm>
              <a:prstGeom prst="rect">
                <a:avLst/>
              </a:prstGeom>
              <a:blipFill>
                <a:blip r:embed="rId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89B4BB-2B7F-2948-844A-89FC079F9892}"/>
                  </a:ext>
                </a:extLst>
              </p:cNvPr>
              <p:cNvSpPr txBox="1"/>
              <p:nvPr/>
            </p:nvSpPr>
            <p:spPr>
              <a:xfrm>
                <a:off x="3445024" y="2503308"/>
                <a:ext cx="5544231" cy="1099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rgbClr val="C00000"/>
                    </a:solidFill>
                    <a:latin typeface="Arial (Body)"/>
                  </a:rPr>
                  <a:t>Can be computed using</a:t>
                </a:r>
                <a:br>
                  <a:rPr lang="en-US" sz="1600" dirty="0">
                    <a:solidFill>
                      <a:srgbClr val="C00000"/>
                    </a:solidFill>
                    <a:latin typeface="Arial (Body)"/>
                  </a:rPr>
                </a:br>
                <a:r>
                  <a:rPr lang="en-US" sz="1600" dirty="0">
                    <a:solidFill>
                      <a:srgbClr val="C00000"/>
                    </a:solidFill>
                    <a:latin typeface="Arial (Body)"/>
                  </a:rPr>
                  <a:t> </a:t>
                </a:r>
                <a:br>
                  <a:rPr lang="en-US" sz="1600" dirty="0">
                    <a:solidFill>
                      <a:srgbClr val="C00000"/>
                    </a:solidFill>
                    <a:latin typeface="Arial (Body)"/>
                  </a:rPr>
                </a:br>
                <a:r>
                  <a:rPr lang="en-US" sz="1600" dirty="0">
                    <a:solidFill>
                      <a:srgbClr val="C00000"/>
                    </a:solidFill>
                    <a:latin typeface="Arial (Body)"/>
                  </a:rPr>
                  <a:t>1. phase aggregate 	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C00000"/>
                    </a:solidFill>
                    <a:latin typeface="Arial (Body)"/>
                  </a:rPr>
                  <a:t>) </a:t>
                </a:r>
                <a:br>
                  <a:rPr lang="en-US" sz="1600" dirty="0">
                    <a:solidFill>
                      <a:srgbClr val="C00000"/>
                    </a:solidFill>
                    <a:latin typeface="Arial (Body)"/>
                  </a:rPr>
                </a:br>
                <a:r>
                  <a:rPr lang="en-US" sz="1600" dirty="0">
                    <a:solidFill>
                      <a:srgbClr val="C00000"/>
                    </a:solidFill>
                    <a:latin typeface="Arial (Body)"/>
                  </a:rPr>
                  <a:t>2. phase assemblage 	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𝑠𝑦𝑠𝑡𝑒𝑚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C00000"/>
                    </a:solidFill>
                    <a:latin typeface="Arial (Body)"/>
                  </a:rPr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89B4BB-2B7F-2948-844A-89FC079F9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024" y="2503308"/>
                <a:ext cx="5544231" cy="1099725"/>
              </a:xfrm>
              <a:prstGeom prst="rect">
                <a:avLst/>
              </a:prstGeom>
              <a:blipFill>
                <a:blip r:embed="rId5"/>
                <a:stretch>
                  <a:fillRect l="-440" t="-1667" b="-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9058D4C-D34D-E41C-959C-7FCF07EC1CD4}"/>
              </a:ext>
            </a:extLst>
          </p:cNvPr>
          <p:cNvSpPr txBox="1"/>
          <p:nvPr/>
        </p:nvSpPr>
        <p:spPr>
          <a:xfrm>
            <a:off x="11215941" y="2309675"/>
            <a:ext cx="341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/>
              <a:t>*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736034-5B81-8510-2C32-25BECED35ED1}"/>
              </a:ext>
            </a:extLst>
          </p:cNvPr>
          <p:cNvSpPr txBox="1"/>
          <p:nvPr/>
        </p:nvSpPr>
        <p:spPr>
          <a:xfrm>
            <a:off x="7172902" y="3013510"/>
            <a:ext cx="2040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dirty="0">
                <a:solidFill>
                  <a:srgbClr val="FF0000"/>
                </a:solidFill>
              </a:rPr>
              <a:t>Without reactions</a:t>
            </a:r>
            <a:endParaRPr lang="en-GB" sz="1400" b="1" i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798787-1A2A-A065-6435-CCE802EE63EC}"/>
              </a:ext>
            </a:extLst>
          </p:cNvPr>
          <p:cNvSpPr txBox="1"/>
          <p:nvPr/>
        </p:nvSpPr>
        <p:spPr>
          <a:xfrm>
            <a:off x="7172902" y="3261136"/>
            <a:ext cx="1493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dirty="0">
                <a:solidFill>
                  <a:srgbClr val="00B050"/>
                </a:solidFill>
              </a:rPr>
              <a:t>With reactions</a:t>
            </a:r>
            <a:endParaRPr lang="en-GB" sz="1400" b="1" i="1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CCD76E-7C90-7F8B-E6FC-6C9EEDDEFA68}"/>
              </a:ext>
            </a:extLst>
          </p:cNvPr>
          <p:cNvSpPr txBox="1"/>
          <p:nvPr/>
        </p:nvSpPr>
        <p:spPr>
          <a:xfrm>
            <a:off x="3495232" y="3850659"/>
            <a:ext cx="54894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</a:rPr>
              <a:t>Note that when </a:t>
            </a:r>
            <a:r>
              <a:rPr lang="en-US" sz="1600" b="1" dirty="0" err="1">
                <a:solidFill>
                  <a:srgbClr val="C00000"/>
                </a:solidFill>
              </a:rPr>
              <a:t>G_system</a:t>
            </a:r>
            <a:r>
              <a:rPr lang="en-US" sz="1600" b="1" dirty="0">
                <a:solidFill>
                  <a:srgbClr val="C00000"/>
                </a:solidFill>
              </a:rPr>
              <a:t> is selected, solver must be set to legacy</a:t>
            </a:r>
            <a:br>
              <a:rPr lang="en-US" sz="1600" b="1" dirty="0">
                <a:solidFill>
                  <a:srgbClr val="C00000"/>
                </a:solidFill>
              </a:rPr>
            </a:br>
            <a:r>
              <a:rPr lang="en-US" sz="1600" dirty="0">
                <a:solidFill>
                  <a:srgbClr val="C00000"/>
                </a:solidFill>
              </a:rPr>
              <a:t>higher accuracy at </a:t>
            </a:r>
            <a:r>
              <a:rPr lang="en-US" sz="1600" dirty="0" err="1">
                <a:solidFill>
                  <a:srgbClr val="C00000"/>
                </a:solidFill>
              </a:rPr>
              <a:t>suprasolidus</a:t>
            </a:r>
            <a:r>
              <a:rPr lang="en-US" sz="1600" dirty="0">
                <a:solidFill>
                  <a:srgbClr val="C00000"/>
                </a:solidFill>
              </a:rPr>
              <a:t> conditions is needed to compute Gibbs second derivative</a:t>
            </a:r>
          </a:p>
        </p:txBody>
      </p:sp>
      <p:sp>
        <p:nvSpPr>
          <p:cNvPr id="12" name="TextShape 10">
            <a:extLst>
              <a:ext uri="{FF2B5EF4-FFF2-40B4-BE49-F238E27FC236}">
                <a16:creationId xmlns:a16="http://schemas.microsoft.com/office/drawing/2014/main" id="{9AA32019-D90A-5D3C-7293-1239762353F0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15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65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F74E6DB-04D5-DC9D-518C-AC025E70D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623" y="1309081"/>
            <a:ext cx="3168593" cy="298936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BD05-6E0D-442A-8B60-C4DD93148A32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3FE127-082B-9AC4-9E14-4A5B6E9BA48E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Specific heat capacity: what difference does it make?</a:t>
            </a:r>
            <a:endParaRPr lang="en-US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563C16-4690-B20E-3BAB-B44F1CAF0B18}"/>
                  </a:ext>
                </a:extLst>
              </p:cNvPr>
              <p:cNvSpPr txBox="1"/>
              <p:nvPr/>
            </p:nvSpPr>
            <p:spPr>
              <a:xfrm>
                <a:off x="4788759" y="577511"/>
                <a:ext cx="2538282" cy="7346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35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135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𝒔𝒚𝒔𝒕𝒆𝒎</m:t>
                        </m:r>
                      </m:sub>
                    </m:sSub>
                  </m:oMath>
                </a14:m>
                <a:r>
                  <a:rPr lang="en-US" sz="1350" b="1" dirty="0">
                    <a:solidFill>
                      <a:srgbClr val="C00000"/>
                    </a:solidFill>
                    <a:latin typeface="Arial (Body)"/>
                  </a:rPr>
                  <a:t> differentiation</a:t>
                </a:r>
              </a:p>
              <a:p>
                <a:pPr algn="ctr"/>
                <a:r>
                  <a:rPr lang="en-US" sz="1350" b="1" dirty="0">
                    <a:solidFill>
                      <a:srgbClr val="C00000"/>
                    </a:solidFill>
                    <a:latin typeface="Arial (Body)"/>
                  </a:rPr>
                  <a:t>(Cp with latent heat of reaction)</a:t>
                </a:r>
                <a:endParaRPr lang="en-GB" sz="1350" b="1" dirty="0">
                  <a:solidFill>
                    <a:srgbClr val="C00000"/>
                  </a:solidFill>
                  <a:latin typeface="Arial (Body)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563C16-4690-B20E-3BAB-B44F1CAF0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759" y="577511"/>
                <a:ext cx="2538282" cy="734625"/>
              </a:xfrm>
              <a:prstGeom prst="rect">
                <a:avLst/>
              </a:prstGeom>
              <a:blipFill>
                <a:blip r:embed="rId3"/>
                <a:stretch>
                  <a:fillRect t="-1695"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ED3128-18F8-67A1-29AD-CDE1A71EBB5E}"/>
                  </a:ext>
                </a:extLst>
              </p:cNvPr>
              <p:cNvSpPr txBox="1"/>
              <p:nvPr/>
            </p:nvSpPr>
            <p:spPr>
              <a:xfrm>
                <a:off x="1601670" y="577512"/>
                <a:ext cx="2538282" cy="715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35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135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350" b="1" dirty="0">
                    <a:solidFill>
                      <a:srgbClr val="C00000"/>
                    </a:solidFill>
                    <a:latin typeface="Arial (Body)"/>
                  </a:rPr>
                  <a:t> differentiation</a:t>
                </a:r>
              </a:p>
              <a:p>
                <a:pPr algn="ctr"/>
                <a:r>
                  <a:rPr lang="en-US" sz="1350" b="1" dirty="0">
                    <a:solidFill>
                      <a:srgbClr val="C00000"/>
                    </a:solidFill>
                    <a:latin typeface="Arial (Body)"/>
                  </a:rPr>
                  <a:t>(Cp without latent heat of reaction)</a:t>
                </a:r>
                <a:endParaRPr lang="en-GB" sz="1350" b="1" dirty="0">
                  <a:solidFill>
                    <a:srgbClr val="C00000"/>
                  </a:solidFill>
                  <a:latin typeface="Arial (Body)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ED3128-18F8-67A1-29AD-CDE1A71EB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670" y="577512"/>
                <a:ext cx="2538282" cy="715581"/>
              </a:xfrm>
              <a:prstGeom prst="rect">
                <a:avLst/>
              </a:prstGeom>
              <a:blipFill>
                <a:blip r:embed="rId4"/>
                <a:stretch>
                  <a:fillRect t="-1754" b="-8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9831B3F-9DD0-AA27-0A60-5E94A82F0869}"/>
              </a:ext>
            </a:extLst>
          </p:cNvPr>
          <p:cNvCxnSpPr>
            <a:cxnSpLocks/>
          </p:cNvCxnSpPr>
          <p:nvPr/>
        </p:nvCxnSpPr>
        <p:spPr>
          <a:xfrm>
            <a:off x="4517994" y="760969"/>
            <a:ext cx="0" cy="33242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0D413CE-B8D8-94DD-CE57-8E073CBC99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0368" y="1316661"/>
            <a:ext cx="3166234" cy="30167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54992C-1C45-0298-92EB-95D39BB8D9D1}"/>
              </a:ext>
            </a:extLst>
          </p:cNvPr>
          <p:cNvSpPr txBox="1"/>
          <p:nvPr/>
        </p:nvSpPr>
        <p:spPr>
          <a:xfrm>
            <a:off x="7394004" y="1654918"/>
            <a:ext cx="5803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/>
              <a:t>[J/kg/K]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9D665B-E902-BFAD-1B24-0572DB1DD0C7}"/>
              </a:ext>
            </a:extLst>
          </p:cNvPr>
          <p:cNvSpPr txBox="1"/>
          <p:nvPr/>
        </p:nvSpPr>
        <p:spPr>
          <a:xfrm>
            <a:off x="3937621" y="1625712"/>
            <a:ext cx="5803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/>
              <a:t>[J/kg/K]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264F41-3BF5-237F-24AC-3195DE077710}"/>
              </a:ext>
            </a:extLst>
          </p:cNvPr>
          <p:cNvSpPr txBox="1"/>
          <p:nvPr/>
        </p:nvSpPr>
        <p:spPr>
          <a:xfrm>
            <a:off x="1763687" y="4387422"/>
            <a:ext cx="30655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C00000"/>
                </a:solidFill>
                <a:latin typeface="Arial (Body)"/>
              </a:rPr>
              <a:t>Cheap to compute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C00000"/>
                </a:solidFill>
                <a:latin typeface="Arial (Body)"/>
              </a:rPr>
              <a:t>Ignores latent heat</a:t>
            </a:r>
            <a:endParaRPr lang="en-GB" sz="1200" b="1" dirty="0">
              <a:solidFill>
                <a:srgbClr val="C00000"/>
              </a:solidFill>
              <a:latin typeface="Arial (Body)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044E98-EF6B-2305-C0EB-512D9E0C14CB}"/>
              </a:ext>
            </a:extLst>
          </p:cNvPr>
          <p:cNvSpPr txBox="1"/>
          <p:nvPr/>
        </p:nvSpPr>
        <p:spPr>
          <a:xfrm>
            <a:off x="5139064" y="4387422"/>
            <a:ext cx="3413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C00000"/>
                </a:solidFill>
                <a:latin typeface="Arial (Body)"/>
              </a:rPr>
              <a:t>Slightly more expensive to compute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C00000"/>
                </a:solidFill>
                <a:latin typeface="Arial (Body)"/>
              </a:rPr>
              <a:t>Correct heat budget</a:t>
            </a:r>
            <a:endParaRPr lang="en-GB" sz="1200" b="1" dirty="0">
              <a:solidFill>
                <a:srgbClr val="C00000"/>
              </a:solidFill>
              <a:latin typeface="Arial (Body)"/>
            </a:endParaRPr>
          </a:p>
        </p:txBody>
      </p:sp>
      <p:sp>
        <p:nvSpPr>
          <p:cNvPr id="2" name="TextShape 10">
            <a:extLst>
              <a:ext uri="{FF2B5EF4-FFF2-40B4-BE49-F238E27FC236}">
                <a16:creationId xmlns:a16="http://schemas.microsoft.com/office/drawing/2014/main" id="{3675FA94-0965-62E0-44D7-2A9C032140F8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16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3554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BAB4424-D7DB-1D82-5D06-7B031C518BEE}"/>
              </a:ext>
            </a:extLst>
          </p:cNvPr>
          <p:cNvSpPr txBox="1"/>
          <p:nvPr/>
        </p:nvSpPr>
        <p:spPr>
          <a:xfrm>
            <a:off x="3492595" y="1687024"/>
            <a:ext cx="54894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</a:rPr>
              <a:t>Select predefined bulk rock composition for testing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C1694-472C-893C-1066-F2A8A51BBAA6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MAGEMinApp: bulk rock composition</a:t>
            </a:r>
            <a:endParaRPr lang="en-US" dirty="0">
              <a:latin typeface="Bookman Old Style" panose="0205060405050502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7BDDBC-7406-2F44-CB34-5C46B37A8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7" y="446887"/>
            <a:ext cx="3143243" cy="44284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606CD2-D90B-2FF6-9AA4-3A5377C871E6}"/>
              </a:ext>
            </a:extLst>
          </p:cNvPr>
          <p:cNvSpPr/>
          <p:nvPr/>
        </p:nvSpPr>
        <p:spPr>
          <a:xfrm>
            <a:off x="438292" y="1236409"/>
            <a:ext cx="1521138" cy="2818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D47FAD-EB5F-6F09-28F5-DD5B6138A73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959430" y="1377351"/>
            <a:ext cx="1533165" cy="47895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2FE615-88DF-0B7A-7622-4365A500A767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>
            <a:off x="3224462" y="929781"/>
            <a:ext cx="268133" cy="5979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A6D54E5-5F11-8177-D366-05CE27AC7BE4}"/>
              </a:ext>
            </a:extLst>
          </p:cNvPr>
          <p:cNvSpPr/>
          <p:nvPr/>
        </p:nvSpPr>
        <p:spPr>
          <a:xfrm>
            <a:off x="438291" y="700707"/>
            <a:ext cx="2786171" cy="45814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62C0DF-62BC-8D8A-B5B6-E77DC01EDA1E}"/>
              </a:ext>
            </a:extLst>
          </p:cNvPr>
          <p:cNvSpPr txBox="1"/>
          <p:nvPr/>
        </p:nvSpPr>
        <p:spPr>
          <a:xfrm>
            <a:off x="3492595" y="820300"/>
            <a:ext cx="54894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</a:rPr>
              <a:t>Load custom bulk rock composition(s)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70DC88-3598-BF22-BDDA-810F239C8F15}"/>
              </a:ext>
            </a:extLst>
          </p:cNvPr>
          <p:cNvSpPr/>
          <p:nvPr/>
        </p:nvSpPr>
        <p:spPr>
          <a:xfrm>
            <a:off x="410305" y="1583896"/>
            <a:ext cx="1493150" cy="260309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A557FA6-6E7D-3A80-5CB6-36A9B95F7DC8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>
            <a:off x="1903455" y="2885443"/>
            <a:ext cx="1589140" cy="5606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2A0046C-9BD3-DF62-F2A2-C49F25863F71}"/>
              </a:ext>
            </a:extLst>
          </p:cNvPr>
          <p:cNvSpPr txBox="1"/>
          <p:nvPr/>
        </p:nvSpPr>
        <p:spPr>
          <a:xfrm>
            <a:off x="3492595" y="2526005"/>
            <a:ext cx="5489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</a:rPr>
              <a:t>Bulk rock composition displayed in mol%</a:t>
            </a:r>
            <a:br>
              <a:rPr lang="en-US" sz="1600" b="1" dirty="0">
                <a:solidFill>
                  <a:srgbClr val="C00000"/>
                </a:solidFill>
              </a:rPr>
            </a:br>
            <a:r>
              <a:rPr lang="en-US" sz="1600" dirty="0">
                <a:solidFill>
                  <a:srgbClr val="C00000"/>
                </a:solidFill>
              </a:rPr>
              <a:t>note that only the oxides taken into account in the database are displayed</a:t>
            </a:r>
          </a:p>
        </p:txBody>
      </p:sp>
      <p:sp>
        <p:nvSpPr>
          <p:cNvPr id="2" name="TextShape 10">
            <a:extLst>
              <a:ext uri="{FF2B5EF4-FFF2-40B4-BE49-F238E27FC236}">
                <a16:creationId xmlns:a16="http://schemas.microsoft.com/office/drawing/2014/main" id="{65BEDAF6-B18B-033A-1CCD-A2671FD6C790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17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82399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DC1694-472C-893C-1066-F2A8A51BBAA6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latin typeface="Bookman Old Style" panose="02050604050505020204" pitchFamily="18" charset="0"/>
              </a:rPr>
              <a:t>MAGEMinApp: bulk rock input file format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62C0DF-62BC-8D8A-B5B6-E77DC01EDA1E}"/>
              </a:ext>
            </a:extLst>
          </p:cNvPr>
          <p:cNvSpPr txBox="1"/>
          <p:nvPr/>
        </p:nvSpPr>
        <p:spPr>
          <a:xfrm>
            <a:off x="175663" y="2224361"/>
            <a:ext cx="75245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</a:rPr>
              <a:t>Note that either [..., Fe2O3, </a:t>
            </a:r>
            <a:r>
              <a:rPr lang="en-US" sz="1600" b="1" dirty="0" err="1">
                <a:solidFill>
                  <a:srgbClr val="C00000"/>
                </a:solidFill>
              </a:rPr>
              <a:t>FeO</a:t>
            </a:r>
            <a:r>
              <a:rPr lang="en-US" sz="1600" b="1" dirty="0">
                <a:solidFill>
                  <a:srgbClr val="C00000"/>
                </a:solidFill>
              </a:rPr>
              <a:t>,...] or [..., </a:t>
            </a:r>
            <a:r>
              <a:rPr lang="en-US" sz="1600" b="1" dirty="0" err="1">
                <a:solidFill>
                  <a:srgbClr val="C00000"/>
                </a:solidFill>
              </a:rPr>
              <a:t>FeO</a:t>
            </a:r>
            <a:r>
              <a:rPr lang="en-US" sz="1600" b="1" dirty="0">
                <a:solidFill>
                  <a:srgbClr val="C00000"/>
                </a:solidFill>
              </a:rPr>
              <a:t>, O, ...] must me provided for the database accounting for O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DA853-86A2-EDFE-F3B7-33180F9E17A8}"/>
              </a:ext>
            </a:extLst>
          </p:cNvPr>
          <p:cNvSpPr txBox="1"/>
          <p:nvPr/>
        </p:nvSpPr>
        <p:spPr>
          <a:xfrm>
            <a:off x="185630" y="935595"/>
            <a:ext cx="87727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Arial (Body)"/>
              </a:rPr>
              <a:t>https://github.com/ComputationalThermodynamics/Resources/GG2024/bulkrock_composition_input_files/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242991-EF2C-C32A-7369-39538E8569AA}"/>
              </a:ext>
            </a:extLst>
          </p:cNvPr>
          <p:cNvSpPr txBox="1"/>
          <p:nvPr/>
        </p:nvSpPr>
        <p:spPr>
          <a:xfrm>
            <a:off x="134066" y="53636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Example of input file provided in: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0F7E9BF-A1CD-BF4C-44F1-6921BFBAE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64" y="1303168"/>
            <a:ext cx="8428981" cy="69051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21E86DB-EED6-7FE0-07A2-5E46F120F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63" y="2970081"/>
            <a:ext cx="2507729" cy="189019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B18477A-E80B-08C6-7A6F-A2CA89104D40}"/>
              </a:ext>
            </a:extLst>
          </p:cNvPr>
          <p:cNvSpPr txBox="1"/>
          <p:nvPr/>
        </p:nvSpPr>
        <p:spPr>
          <a:xfrm>
            <a:off x="2775630" y="2970081"/>
            <a:ext cx="619270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</a:rPr>
              <a:t>Once loaded, the bulk-rock composition appear in the dropdown menu</a:t>
            </a:r>
            <a:br>
              <a:rPr lang="en-US" sz="1600" b="1" dirty="0">
                <a:solidFill>
                  <a:srgbClr val="C00000"/>
                </a:solidFill>
              </a:rPr>
            </a:br>
            <a:r>
              <a:rPr lang="en-US" sz="1600" dirty="0">
                <a:solidFill>
                  <a:srgbClr val="C00000"/>
                </a:solidFill>
              </a:rPr>
              <a:t>Note that the bulk are attached to a database, this is why only Test 2 and K167 appear in the dropdown menu</a:t>
            </a:r>
          </a:p>
        </p:txBody>
      </p:sp>
      <p:sp>
        <p:nvSpPr>
          <p:cNvPr id="2" name="TextShape 10">
            <a:extLst>
              <a:ext uri="{FF2B5EF4-FFF2-40B4-BE49-F238E27FC236}">
                <a16:creationId xmlns:a16="http://schemas.microsoft.com/office/drawing/2014/main" id="{C97C5F10-DD96-C0C0-5355-CFFC079A236E}"/>
              </a:ext>
            </a:extLst>
          </p:cNvPr>
          <p:cNvSpPr txBox="1"/>
          <p:nvPr/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40389D1-5DFF-4154-8553-55D8830A853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18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9198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11523</TotalTime>
  <Words>821</Words>
  <Application>Microsoft Macintosh PowerPoint</Application>
  <PresentationFormat>On-screen Show (16:9)</PresentationFormat>
  <Paragraphs>152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Aptos</vt:lpstr>
      <vt:lpstr>Arial</vt:lpstr>
      <vt:lpstr>Arial (Body)</vt:lpstr>
      <vt:lpstr>Bookman Old Style</vt:lpstr>
      <vt:lpstr>Calibri</vt:lpstr>
      <vt:lpstr>Calibri (Body)</vt:lpstr>
      <vt:lpstr>Cambria Math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subject/>
  <dc:creator>Utilisateur Windows</dc:creator>
  <dc:description/>
  <cp:lastModifiedBy>Riel, Dr. Nicolas</cp:lastModifiedBy>
  <cp:revision>875</cp:revision>
  <cp:lastPrinted>2022-08-28T08:42:27Z</cp:lastPrinted>
  <dcterms:created xsi:type="dcterms:W3CDTF">2021-03-04T07:53:29Z</dcterms:created>
  <dcterms:modified xsi:type="dcterms:W3CDTF">2025-04-07T15:05:44Z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13</vt:i4>
  </property>
  <property fmtid="{D5CDD505-2E9C-101B-9397-08002B2CF9AE}" pid="8" name="PresentationFormat">
    <vt:lpwstr>On-screen Show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28</vt:i4>
  </property>
</Properties>
</file>